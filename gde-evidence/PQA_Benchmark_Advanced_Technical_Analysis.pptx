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563EB"/>
          </a:solidFill>
          <a:ln w="12700">
            <a:solidFill>
              <a:srgbClr val="2563EB"/>
            </a:solidFill>
            <a:prstDash val="solid"/>
          </a:ln>
        </p:spPr>
      </p:sp>
      <p:sp>
        <p:nvSpPr>
          <p:cNvPr id="3" name="Text 1"/>
          <p:cNvSpPr/>
          <p:nvPr/>
        </p:nvSpPr>
        <p:spPr>
          <a:xfrm>
            <a:off x="502920" y="164592"/>
            <a:ext cx="5303520" cy="201168"/>
          </a:xfrm>
          <a:prstGeom prst="rect">
            <a:avLst/>
          </a:prstGeom>
          <a:noFill/>
          <a:ln/>
        </p:spPr>
        <p:txBody>
          <a:bodyPr wrap="square" lIns="0" tIns="0" rIns="0" bIns="0" rtlCol="0" anchor="ctr"/>
          <a:lstStyle/>
          <a:p>
            <a:pPr indent="0" marL="0">
              <a:buNone/>
            </a:pPr>
            <a:r>
              <a:rPr lang="en-US" sz="900" b="1" spc="110" kern="0" dirty="0">
                <a:solidFill>
                  <a:srgbClr val="64748B"/>
                </a:solidFill>
                <a:latin typeface="Aptos" pitchFamily="34" charset="0"/>
                <a:ea typeface="Aptos" pitchFamily="34" charset="-122"/>
                <a:cs typeface="Aptos" pitchFamily="34" charset="-120"/>
              </a:rPr>
              <a:t>PQA  |  BENCHMARK TECHNICAL ANALYSIS</a:t>
            </a:r>
            <a:endParaRPr lang="en-US" sz="900" dirty="0"/>
          </a:p>
        </p:txBody>
      </p:sp>
      <p:sp>
        <p:nvSpPr>
          <p:cNvPr id="4" name="Text 2"/>
          <p:cNvSpPr/>
          <p:nvPr/>
        </p:nvSpPr>
        <p:spPr>
          <a:xfrm>
            <a:off x="10424160" y="164592"/>
            <a:ext cx="1234440" cy="201168"/>
          </a:xfrm>
          <a:prstGeom prst="rect">
            <a:avLst/>
          </a:prstGeom>
          <a:noFill/>
          <a:ln/>
        </p:spPr>
        <p:txBody>
          <a:bodyPr wrap="square" lIns="0" tIns="0" rIns="0" bIns="0" rtlCol="0" anchor="ctr"/>
          <a:lstStyle/>
          <a:p>
            <a:pPr algn="r" indent="0" marL="0">
              <a:buNone/>
            </a:pPr>
            <a:r>
              <a:rPr lang="en-US" sz="800" dirty="0">
                <a:solidFill>
                  <a:srgbClr val="94A3B8"/>
                </a:solidFill>
              </a:rPr>
              <a:t>26 AUG 2026</a:t>
            </a:r>
            <a:endParaRPr lang="en-US" sz="800" dirty="0"/>
          </a:p>
        </p:txBody>
      </p:sp>
      <p:sp>
        <p:nvSpPr>
          <p:cNvPr id="5" name="Shape 3"/>
          <p:cNvSpPr/>
          <p:nvPr/>
        </p:nvSpPr>
        <p:spPr>
          <a:xfrm>
            <a:off x="502920" y="6537960"/>
            <a:ext cx="11155680" cy="0"/>
          </a:xfrm>
          <a:prstGeom prst="line">
            <a:avLst/>
          </a:prstGeom>
          <a:noFill/>
          <a:ln w="8890">
            <a:solidFill>
              <a:srgbClr val="D8DEE8"/>
            </a:solidFill>
            <a:prstDash val="solid"/>
          </a:ln>
        </p:spPr>
      </p:sp>
      <p:sp>
        <p:nvSpPr>
          <p:cNvPr id="6" name="Text 4"/>
          <p:cNvSpPr/>
          <p:nvPr/>
        </p:nvSpPr>
        <p:spPr>
          <a:xfrm>
            <a:off x="502920" y="6583680"/>
            <a:ext cx="4754880" cy="146304"/>
          </a:xfrm>
          <a:prstGeom prst="rect">
            <a:avLst/>
          </a:prstGeom>
          <a:noFill/>
          <a:ln/>
        </p:spPr>
        <p:txBody>
          <a:bodyPr wrap="square" lIns="0" tIns="0" rIns="0" bIns="0" rtlCol="0" anchor="ctr"/>
          <a:lstStyle/>
          <a:p>
            <a:pPr indent="0" marL="0">
              <a:buNone/>
            </a:pPr>
            <a:r>
              <a:rPr lang="en-US" sz="750" dirty="0">
                <a:solidFill>
                  <a:srgbClr val="94A3B8"/>
                </a:solidFill>
              </a:rPr>
              <a:t>Source: PQA Full Benchmark v1 results</a:t>
            </a:r>
            <a:endParaRPr lang="en-US" sz="75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a:off x="0" y="0"/>
            <a:ext cx="109728" cy="6858000"/>
          </a:xfrm>
          <a:prstGeom prst="rect">
            <a:avLst/>
          </a:prstGeom>
          <a:solidFill>
            <a:srgbClr val="2563EB"/>
          </a:solidFill>
          <a:ln w="12700">
            <a:solidFill>
              <a:srgbClr val="2563EB"/>
            </a:solidFill>
            <a:prstDash val="solid"/>
          </a:ln>
        </p:spPr>
      </p:sp>
      <p:sp>
        <p:nvSpPr>
          <p:cNvPr id="4" name="Text 2"/>
          <p:cNvSpPr/>
          <p:nvPr/>
        </p:nvSpPr>
        <p:spPr>
          <a:xfrm>
            <a:off x="685800" y="777240"/>
            <a:ext cx="6858000" cy="256032"/>
          </a:xfrm>
          <a:prstGeom prst="rect">
            <a:avLst/>
          </a:prstGeom>
          <a:noFill/>
          <a:ln/>
        </p:spPr>
        <p:txBody>
          <a:bodyPr wrap="square" lIns="0" tIns="0" rIns="0" bIns="0" rtlCol="0" anchor="ctr"/>
          <a:lstStyle/>
          <a:p>
            <a:pPr indent="0" marL="0">
              <a:buNone/>
            </a:pPr>
            <a:r>
              <a:rPr lang="en-US" sz="1100" b="1" spc="220" kern="0" dirty="0">
                <a:solidFill>
                  <a:srgbClr val="60A5FA"/>
                </a:solidFill>
              </a:rPr>
              <a:t>PROMPT QUALITY ANALYZER</a:t>
            </a:r>
            <a:endParaRPr lang="en-US" sz="1100" dirty="0"/>
          </a:p>
        </p:txBody>
      </p:sp>
      <p:sp>
        <p:nvSpPr>
          <p:cNvPr id="5" name="Text 3"/>
          <p:cNvSpPr/>
          <p:nvPr/>
        </p:nvSpPr>
        <p:spPr>
          <a:xfrm>
            <a:off x="685800" y="1234440"/>
            <a:ext cx="7863840" cy="1234440"/>
          </a:xfrm>
          <a:prstGeom prst="rect">
            <a:avLst/>
          </a:prstGeom>
          <a:noFill/>
          <a:ln/>
        </p:spPr>
        <p:txBody>
          <a:bodyPr wrap="square" lIns="0" tIns="0" rIns="0" bIns="0" rtlCol="0" anchor="ctr"/>
          <a:lstStyle/>
          <a:p>
            <a:pPr indent="0" marL="0">
              <a:buNone/>
            </a:pPr>
            <a:r>
              <a:rPr lang="en-US" sz="3400" b="1" dirty="0">
                <a:solidFill>
                  <a:srgbClr val="FFFFFF"/>
                </a:solidFill>
              </a:rPr>
              <a:t>Benchmark v1</a:t>
            </a:r>
            <a:endParaRPr lang="en-US" sz="3400" dirty="0"/>
          </a:p>
          <a:p>
            <a:pPr indent="0" marL="0">
              <a:buNone/>
            </a:pPr>
            <a:r>
              <a:rPr lang="en-US" sz="3400" b="1" dirty="0">
                <a:solidFill>
                  <a:srgbClr val="FFFFFF"/>
                </a:solidFill>
              </a:rPr>
              <a:t>Advanced Technical Analysis</a:t>
            </a:r>
            <a:endParaRPr lang="en-US" sz="3400" dirty="0"/>
          </a:p>
        </p:txBody>
      </p:sp>
      <p:sp>
        <p:nvSpPr>
          <p:cNvPr id="6" name="Text 4"/>
          <p:cNvSpPr/>
          <p:nvPr/>
        </p:nvSpPr>
        <p:spPr>
          <a:xfrm>
            <a:off x="713232" y="2697480"/>
            <a:ext cx="8138160" cy="457200"/>
          </a:xfrm>
          <a:prstGeom prst="rect">
            <a:avLst/>
          </a:prstGeom>
          <a:noFill/>
          <a:ln/>
        </p:spPr>
        <p:txBody>
          <a:bodyPr wrap="square" lIns="0" tIns="0" rIns="0" bIns="0" rtlCol="0" anchor="ctr"/>
          <a:lstStyle/>
          <a:p>
            <a:pPr indent="0" marL="0">
              <a:buNone/>
            </a:pPr>
            <a:r>
              <a:rPr lang="en-US" sz="1500" dirty="0">
                <a:solidFill>
                  <a:srgbClr val="CBD5E1"/>
                </a:solidFill>
              </a:rPr>
              <a:t>Execution integrity, result-contract failure, architecture diagnosis and remediation plan</a:t>
            </a:r>
            <a:endParaRPr lang="en-US" sz="1500" dirty="0"/>
          </a:p>
        </p:txBody>
      </p:sp>
      <p:sp>
        <p:nvSpPr>
          <p:cNvPr id="7" name="Shape 5"/>
          <p:cNvSpPr/>
          <p:nvPr/>
        </p:nvSpPr>
        <p:spPr>
          <a:xfrm>
            <a:off x="8869680" y="1143000"/>
            <a:ext cx="2468880" cy="4160520"/>
          </a:xfrm>
          <a:prstGeom prst="roundRect">
            <a:avLst>
              <a:gd name="adj" fmla="val 2963"/>
            </a:avLst>
          </a:prstGeom>
          <a:solidFill>
            <a:srgbClr val="111827"/>
          </a:solidFill>
          <a:ln w="10160">
            <a:solidFill>
              <a:srgbClr val="334155"/>
            </a:solidFill>
            <a:prstDash val="solid"/>
          </a:ln>
        </p:spPr>
      </p:sp>
      <p:sp>
        <p:nvSpPr>
          <p:cNvPr id="8" name="Text 6"/>
          <p:cNvSpPr/>
          <p:nvPr/>
        </p:nvSpPr>
        <p:spPr>
          <a:xfrm>
            <a:off x="9144000" y="1444752"/>
            <a:ext cx="1920240" cy="219456"/>
          </a:xfrm>
          <a:prstGeom prst="rect">
            <a:avLst/>
          </a:prstGeom>
          <a:noFill/>
          <a:ln/>
        </p:spPr>
        <p:txBody>
          <a:bodyPr wrap="square" lIns="0" tIns="0" rIns="0" bIns="0" rtlCol="0" anchor="ctr"/>
          <a:lstStyle/>
          <a:p>
            <a:pPr indent="0" marL="0">
              <a:buNone/>
            </a:pPr>
            <a:r>
              <a:rPr lang="en-US" sz="1000" b="1" spc="120" kern="0" dirty="0">
                <a:solidFill>
                  <a:srgbClr val="94A3B8"/>
                </a:solidFill>
              </a:rPr>
              <a:t>EXECUTIVE SIGNAL</a:t>
            </a:r>
            <a:endParaRPr lang="en-US" sz="1000" dirty="0"/>
          </a:p>
        </p:txBody>
      </p:sp>
      <p:sp>
        <p:nvSpPr>
          <p:cNvPr id="9" name="Text 7"/>
          <p:cNvSpPr/>
          <p:nvPr/>
        </p:nvSpPr>
        <p:spPr>
          <a:xfrm>
            <a:off x="9144000" y="1874520"/>
            <a:ext cx="1920240" cy="457200"/>
          </a:xfrm>
          <a:prstGeom prst="rect">
            <a:avLst/>
          </a:prstGeom>
          <a:noFill/>
          <a:ln/>
        </p:spPr>
        <p:txBody>
          <a:bodyPr wrap="square" lIns="0" tIns="0" rIns="0" bIns="0" rtlCol="0" anchor="ctr"/>
          <a:lstStyle/>
          <a:p>
            <a:pPr indent="0" marL="0">
              <a:buNone/>
            </a:pPr>
            <a:r>
              <a:rPr lang="en-US" sz="3100" b="1" dirty="0">
                <a:solidFill>
                  <a:srgbClr val="34D399"/>
                </a:solidFill>
              </a:rPr>
              <a:t>18 / 18</a:t>
            </a:r>
            <a:endParaRPr lang="en-US" sz="3100" dirty="0"/>
          </a:p>
        </p:txBody>
      </p:sp>
      <p:sp>
        <p:nvSpPr>
          <p:cNvPr id="10" name="Text 8"/>
          <p:cNvSpPr/>
          <p:nvPr/>
        </p:nvSpPr>
        <p:spPr>
          <a:xfrm>
            <a:off x="9144000" y="2313432"/>
            <a:ext cx="1920240" cy="219456"/>
          </a:xfrm>
          <a:prstGeom prst="rect">
            <a:avLst/>
          </a:prstGeom>
          <a:noFill/>
          <a:ln/>
        </p:spPr>
        <p:txBody>
          <a:bodyPr wrap="square" lIns="0" tIns="0" rIns="0" bIns="0" rtlCol="0" anchor="ctr"/>
          <a:lstStyle/>
          <a:p>
            <a:pPr indent="0" marL="0">
              <a:buNone/>
            </a:pPr>
            <a:r>
              <a:rPr lang="en-US" sz="1000" dirty="0">
                <a:solidFill>
                  <a:srgbClr val="CBD5E1"/>
                </a:solidFill>
              </a:rPr>
              <a:t>batches completed</a:t>
            </a:r>
            <a:endParaRPr lang="en-US" sz="1000" dirty="0"/>
          </a:p>
        </p:txBody>
      </p:sp>
      <p:sp>
        <p:nvSpPr>
          <p:cNvPr id="11" name="Text 9"/>
          <p:cNvSpPr/>
          <p:nvPr/>
        </p:nvSpPr>
        <p:spPr>
          <a:xfrm>
            <a:off x="9144000" y="2788920"/>
            <a:ext cx="1920240" cy="457200"/>
          </a:xfrm>
          <a:prstGeom prst="rect">
            <a:avLst/>
          </a:prstGeom>
          <a:noFill/>
          <a:ln/>
        </p:spPr>
        <p:txBody>
          <a:bodyPr wrap="square" lIns="0" tIns="0" rIns="0" bIns="0" rtlCol="0" anchor="ctr"/>
          <a:lstStyle/>
          <a:p>
            <a:pPr indent="0" marL="0">
              <a:buNone/>
            </a:pPr>
            <a:r>
              <a:rPr lang="en-US" sz="3100" b="1" dirty="0">
                <a:solidFill>
                  <a:srgbClr val="FBBF24"/>
                </a:solidFill>
              </a:rPr>
              <a:t>90 / 90</a:t>
            </a:r>
            <a:endParaRPr lang="en-US" sz="3100" dirty="0"/>
          </a:p>
        </p:txBody>
      </p:sp>
      <p:sp>
        <p:nvSpPr>
          <p:cNvPr id="12" name="Text 10"/>
          <p:cNvSpPr/>
          <p:nvPr/>
        </p:nvSpPr>
        <p:spPr>
          <a:xfrm>
            <a:off x="9144000" y="3227832"/>
            <a:ext cx="1920240" cy="219456"/>
          </a:xfrm>
          <a:prstGeom prst="rect">
            <a:avLst/>
          </a:prstGeom>
          <a:noFill/>
          <a:ln/>
        </p:spPr>
        <p:txBody>
          <a:bodyPr wrap="square" lIns="0" tIns="0" rIns="0" bIns="0" rtlCol="0" anchor="ctr"/>
          <a:lstStyle/>
          <a:p>
            <a:pPr indent="0" marL="0">
              <a:buNone/>
            </a:pPr>
            <a:r>
              <a:rPr lang="en-US" sz="1000" dirty="0">
                <a:solidFill>
                  <a:srgbClr val="CBD5E1"/>
                </a:solidFill>
              </a:rPr>
              <a:t>cases returned</a:t>
            </a:r>
            <a:endParaRPr lang="en-US" sz="1000" dirty="0"/>
          </a:p>
        </p:txBody>
      </p:sp>
      <p:sp>
        <p:nvSpPr>
          <p:cNvPr id="13" name="Text 11"/>
          <p:cNvSpPr/>
          <p:nvPr/>
        </p:nvSpPr>
        <p:spPr>
          <a:xfrm>
            <a:off x="9144000" y="3703320"/>
            <a:ext cx="1920240" cy="457200"/>
          </a:xfrm>
          <a:prstGeom prst="rect">
            <a:avLst/>
          </a:prstGeom>
          <a:noFill/>
          <a:ln/>
        </p:spPr>
        <p:txBody>
          <a:bodyPr wrap="square" lIns="0" tIns="0" rIns="0" bIns="0" rtlCol="0" anchor="ctr"/>
          <a:lstStyle/>
          <a:p>
            <a:pPr indent="0" marL="0">
              <a:buNone/>
            </a:pPr>
            <a:r>
              <a:rPr lang="en-US" sz="3100" b="1" dirty="0">
                <a:solidFill>
                  <a:srgbClr val="F87171"/>
                </a:solidFill>
              </a:rPr>
              <a:t>0</a:t>
            </a:r>
            <a:endParaRPr lang="en-US" sz="3100" dirty="0"/>
          </a:p>
        </p:txBody>
      </p:sp>
      <p:sp>
        <p:nvSpPr>
          <p:cNvPr id="14" name="Text 12"/>
          <p:cNvSpPr/>
          <p:nvPr/>
        </p:nvSpPr>
        <p:spPr>
          <a:xfrm>
            <a:off x="9144000" y="4142232"/>
            <a:ext cx="1920240" cy="219456"/>
          </a:xfrm>
          <a:prstGeom prst="rect">
            <a:avLst/>
          </a:prstGeom>
          <a:noFill/>
          <a:ln/>
        </p:spPr>
        <p:txBody>
          <a:bodyPr wrap="square" lIns="0" tIns="0" rIns="0" bIns="0" rtlCol="0" anchor="ctr"/>
          <a:lstStyle/>
          <a:p>
            <a:pPr indent="0" marL="0">
              <a:buNone/>
            </a:pPr>
            <a:r>
              <a:rPr lang="en-US" sz="1000" dirty="0">
                <a:solidFill>
                  <a:srgbClr val="CBD5E1"/>
                </a:solidFill>
              </a:rPr>
              <a:t>usable scored cases</a:t>
            </a:r>
            <a:endParaRPr lang="en-US" sz="1000" dirty="0"/>
          </a:p>
        </p:txBody>
      </p:sp>
      <p:sp>
        <p:nvSpPr>
          <p:cNvPr id="15" name="Shape 13"/>
          <p:cNvSpPr/>
          <p:nvPr/>
        </p:nvSpPr>
        <p:spPr>
          <a:xfrm>
            <a:off x="9144000" y="4709160"/>
            <a:ext cx="1691640" cy="274320"/>
          </a:xfrm>
          <a:prstGeom prst="roundRect">
            <a:avLst/>
          </a:prstGeom>
          <a:solidFill>
            <a:srgbClr val="991B1B"/>
          </a:solidFill>
          <a:ln w="12700">
            <a:solidFill>
              <a:srgbClr val="991B1B"/>
            </a:solidFill>
            <a:prstDash val="solid"/>
          </a:ln>
        </p:spPr>
      </p:sp>
      <p:sp>
        <p:nvSpPr>
          <p:cNvPr id="16" name="Text 14"/>
          <p:cNvSpPr/>
          <p:nvPr/>
        </p:nvSpPr>
        <p:spPr>
          <a:xfrm>
            <a:off x="9189720" y="4759452"/>
            <a:ext cx="1600200" cy="137160"/>
          </a:xfrm>
          <a:prstGeom prst="rect">
            <a:avLst/>
          </a:prstGeom>
          <a:noFill/>
          <a:ln/>
        </p:spPr>
        <p:txBody>
          <a:bodyPr wrap="square" lIns="0" tIns="0" rIns="0" bIns="0" rtlCol="0" anchor="ctr"/>
          <a:lstStyle/>
          <a:p>
            <a:pPr algn="ctr" indent="0" marL="0">
              <a:buNone/>
            </a:pPr>
            <a:r>
              <a:rPr lang="en-US" sz="800" b="1" dirty="0">
                <a:solidFill>
                  <a:srgbClr val="FFFFFF"/>
                </a:solidFill>
              </a:rPr>
              <a:t>RESULT CONTRACT FAIL</a:t>
            </a:r>
            <a:endParaRPr lang="en-US" sz="800" dirty="0"/>
          </a:p>
        </p:txBody>
      </p:sp>
      <p:sp>
        <p:nvSpPr>
          <p:cNvPr id="17" name="Text 15"/>
          <p:cNvSpPr/>
          <p:nvPr/>
        </p:nvSpPr>
        <p:spPr>
          <a:xfrm>
            <a:off x="713232" y="6080760"/>
            <a:ext cx="3017520" cy="219456"/>
          </a:xfrm>
          <a:prstGeom prst="rect">
            <a:avLst/>
          </a:prstGeom>
          <a:noFill/>
          <a:ln/>
        </p:spPr>
        <p:txBody>
          <a:bodyPr wrap="square" lIns="0" tIns="0" rIns="0" bIns="0" rtlCol="0" anchor="ctr"/>
          <a:lstStyle/>
          <a:p>
            <a:pPr indent="0" marL="0">
              <a:buNone/>
            </a:pPr>
            <a:r>
              <a:rPr lang="en-US" sz="900" dirty="0">
                <a:solidFill>
                  <a:srgbClr val="64748B"/>
                </a:solidFill>
              </a:rPr>
              <a:t>Source run: 26 Aug 2026</a:t>
            </a:r>
            <a:endParaRPr lang="en-US" sz="9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Executive finding: transport succeeded; evaluation evidence did not</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The run proves orchestration stability, but it does not yet prove prompt-scoring quality.</a:t>
            </a:r>
            <a:endParaRPr lang="en-US" sz="1150" dirty="0"/>
          </a:p>
        </p:txBody>
      </p:sp>
      <p:sp>
        <p:nvSpPr>
          <p:cNvPr id="4" name="Shape 2"/>
          <p:cNvSpPr/>
          <p:nvPr/>
        </p:nvSpPr>
        <p:spPr>
          <a:xfrm>
            <a:off x="548640" y="1417320"/>
            <a:ext cx="2606040" cy="914400"/>
          </a:xfrm>
          <a:prstGeom prst="roundRect">
            <a:avLst>
              <a:gd name="adj" fmla="val 8000"/>
            </a:avLst>
          </a:prstGeom>
          <a:solidFill>
            <a:srgbClr val="FFFFFF"/>
          </a:solidFill>
          <a:ln w="10160">
            <a:solidFill>
              <a:srgbClr val="D8DEE8"/>
            </a:solidFill>
            <a:prstDash val="solid"/>
          </a:ln>
        </p:spPr>
      </p:sp>
      <p:sp>
        <p:nvSpPr>
          <p:cNvPr id="5" name="Shape 3"/>
          <p:cNvSpPr/>
          <p:nvPr/>
        </p:nvSpPr>
        <p:spPr>
          <a:xfrm>
            <a:off x="548640" y="1417320"/>
            <a:ext cx="54864" cy="914400"/>
          </a:xfrm>
          <a:prstGeom prst="rect">
            <a:avLst/>
          </a:prstGeom>
          <a:solidFill>
            <a:srgbClr val="2563EB"/>
          </a:solidFill>
          <a:ln w="12700">
            <a:solidFill>
              <a:srgbClr val="2563EB"/>
            </a:solidFill>
            <a:prstDash val="solid"/>
          </a:ln>
        </p:spPr>
      </p:sp>
      <p:sp>
        <p:nvSpPr>
          <p:cNvPr id="6" name="Text 4"/>
          <p:cNvSpPr/>
          <p:nvPr/>
        </p:nvSpPr>
        <p:spPr>
          <a:xfrm>
            <a:off x="713232" y="1527048"/>
            <a:ext cx="2350008" cy="384048"/>
          </a:xfrm>
          <a:prstGeom prst="rect">
            <a:avLst/>
          </a:prstGeom>
          <a:noFill/>
          <a:ln/>
        </p:spPr>
        <p:txBody>
          <a:bodyPr wrap="square" lIns="0" tIns="0" rIns="0" bIns="0" rtlCol="0" anchor="ctr"/>
          <a:lstStyle/>
          <a:p>
            <a:pPr indent="0" marL="0">
              <a:buNone/>
            </a:pPr>
            <a:r>
              <a:rPr lang="en-US" sz="2400" b="1" dirty="0">
                <a:solidFill>
                  <a:srgbClr val="0F172A"/>
                </a:solidFill>
              </a:rPr>
              <a:t>90</a:t>
            </a:r>
            <a:endParaRPr lang="en-US" sz="2400" dirty="0"/>
          </a:p>
        </p:txBody>
      </p:sp>
      <p:sp>
        <p:nvSpPr>
          <p:cNvPr id="7" name="Text 5"/>
          <p:cNvSpPr/>
          <p:nvPr/>
        </p:nvSpPr>
        <p:spPr>
          <a:xfrm>
            <a:off x="713232" y="1929384"/>
            <a:ext cx="2350008" cy="182880"/>
          </a:xfrm>
          <a:prstGeom prst="rect">
            <a:avLst/>
          </a:prstGeom>
          <a:noFill/>
          <a:ln/>
        </p:spPr>
        <p:txBody>
          <a:bodyPr wrap="square" lIns="0" tIns="0" rIns="0" bIns="0" rtlCol="0" anchor="ctr"/>
          <a:lstStyle/>
          <a:p>
            <a:pPr indent="0" marL="0">
              <a:buNone/>
            </a:pPr>
            <a:r>
              <a:rPr lang="en-US" sz="900" b="1" dirty="0">
                <a:solidFill>
                  <a:srgbClr val="475569"/>
                </a:solidFill>
              </a:rPr>
              <a:t>TOTAL CASES</a:t>
            </a:r>
            <a:endParaRPr lang="en-US" sz="900" dirty="0"/>
          </a:p>
        </p:txBody>
      </p:sp>
      <p:sp>
        <p:nvSpPr>
          <p:cNvPr id="8" name="Text 6"/>
          <p:cNvSpPr/>
          <p:nvPr/>
        </p:nvSpPr>
        <p:spPr>
          <a:xfrm>
            <a:off x="713232" y="2121408"/>
            <a:ext cx="2350008" cy="137160"/>
          </a:xfrm>
          <a:prstGeom prst="rect">
            <a:avLst/>
          </a:prstGeom>
          <a:noFill/>
          <a:ln/>
        </p:spPr>
        <p:txBody>
          <a:bodyPr wrap="square" lIns="0" tIns="0" rIns="0" bIns="0" rtlCol="0" anchor="ctr"/>
          <a:lstStyle/>
          <a:p>
            <a:pPr indent="0" marL="0">
              <a:buNone/>
            </a:pPr>
            <a:r>
              <a:rPr lang="en-US" sz="750" dirty="0">
                <a:solidFill>
                  <a:srgbClr val="64748B"/>
                </a:solidFill>
              </a:rPr>
              <a:t>Full benchmark payload</a:t>
            </a:r>
            <a:endParaRPr lang="en-US" sz="750" dirty="0"/>
          </a:p>
        </p:txBody>
      </p:sp>
      <p:sp>
        <p:nvSpPr>
          <p:cNvPr id="9" name="Shape 7"/>
          <p:cNvSpPr/>
          <p:nvPr/>
        </p:nvSpPr>
        <p:spPr>
          <a:xfrm>
            <a:off x="3337560" y="1417320"/>
            <a:ext cx="2606040" cy="914400"/>
          </a:xfrm>
          <a:prstGeom prst="roundRect">
            <a:avLst>
              <a:gd name="adj" fmla="val 8000"/>
            </a:avLst>
          </a:prstGeom>
          <a:solidFill>
            <a:srgbClr val="FFFFFF"/>
          </a:solidFill>
          <a:ln w="10160">
            <a:solidFill>
              <a:srgbClr val="D8DEE8"/>
            </a:solidFill>
            <a:prstDash val="solid"/>
          </a:ln>
        </p:spPr>
      </p:sp>
      <p:sp>
        <p:nvSpPr>
          <p:cNvPr id="10" name="Shape 8"/>
          <p:cNvSpPr/>
          <p:nvPr/>
        </p:nvSpPr>
        <p:spPr>
          <a:xfrm>
            <a:off x="3337560" y="1417320"/>
            <a:ext cx="54864" cy="914400"/>
          </a:xfrm>
          <a:prstGeom prst="rect">
            <a:avLst/>
          </a:prstGeom>
          <a:solidFill>
            <a:srgbClr val="059669"/>
          </a:solidFill>
          <a:ln w="12700">
            <a:solidFill>
              <a:srgbClr val="059669"/>
            </a:solidFill>
            <a:prstDash val="solid"/>
          </a:ln>
        </p:spPr>
      </p:sp>
      <p:sp>
        <p:nvSpPr>
          <p:cNvPr id="11" name="Text 9"/>
          <p:cNvSpPr/>
          <p:nvPr/>
        </p:nvSpPr>
        <p:spPr>
          <a:xfrm>
            <a:off x="3502152" y="1527048"/>
            <a:ext cx="2350008" cy="384048"/>
          </a:xfrm>
          <a:prstGeom prst="rect">
            <a:avLst/>
          </a:prstGeom>
          <a:noFill/>
          <a:ln/>
        </p:spPr>
        <p:txBody>
          <a:bodyPr wrap="square" lIns="0" tIns="0" rIns="0" bIns="0" rtlCol="0" anchor="ctr"/>
          <a:lstStyle/>
          <a:p>
            <a:pPr indent="0" marL="0">
              <a:buNone/>
            </a:pPr>
            <a:r>
              <a:rPr lang="en-US" sz="2400" b="1" dirty="0">
                <a:solidFill>
                  <a:srgbClr val="0F172A"/>
                </a:solidFill>
              </a:rPr>
              <a:t>18/18</a:t>
            </a:r>
            <a:endParaRPr lang="en-US" sz="2400" dirty="0"/>
          </a:p>
        </p:txBody>
      </p:sp>
      <p:sp>
        <p:nvSpPr>
          <p:cNvPr id="12" name="Text 10"/>
          <p:cNvSpPr/>
          <p:nvPr/>
        </p:nvSpPr>
        <p:spPr>
          <a:xfrm>
            <a:off x="3502152" y="1929384"/>
            <a:ext cx="2350008" cy="182880"/>
          </a:xfrm>
          <a:prstGeom prst="rect">
            <a:avLst/>
          </a:prstGeom>
          <a:noFill/>
          <a:ln/>
        </p:spPr>
        <p:txBody>
          <a:bodyPr wrap="square" lIns="0" tIns="0" rIns="0" bIns="0" rtlCol="0" anchor="ctr"/>
          <a:lstStyle/>
          <a:p>
            <a:pPr indent="0" marL="0">
              <a:buNone/>
            </a:pPr>
            <a:r>
              <a:rPr lang="en-US" sz="900" b="1" dirty="0">
                <a:solidFill>
                  <a:srgbClr val="475569"/>
                </a:solidFill>
              </a:rPr>
              <a:t>BATCHES COMPLETE</a:t>
            </a:r>
            <a:endParaRPr lang="en-US" sz="900" dirty="0"/>
          </a:p>
        </p:txBody>
      </p:sp>
      <p:sp>
        <p:nvSpPr>
          <p:cNvPr id="13" name="Text 11"/>
          <p:cNvSpPr/>
          <p:nvPr/>
        </p:nvSpPr>
        <p:spPr>
          <a:xfrm>
            <a:off x="3502152" y="2121408"/>
            <a:ext cx="2350008" cy="137160"/>
          </a:xfrm>
          <a:prstGeom prst="rect">
            <a:avLst/>
          </a:prstGeom>
          <a:noFill/>
          <a:ln/>
        </p:spPr>
        <p:txBody>
          <a:bodyPr wrap="square" lIns="0" tIns="0" rIns="0" bIns="0" rtlCol="0" anchor="ctr"/>
          <a:lstStyle/>
          <a:p>
            <a:pPr indent="0" marL="0">
              <a:buNone/>
            </a:pPr>
            <a:r>
              <a:rPr lang="en-US" sz="750" dirty="0">
                <a:solidFill>
                  <a:srgbClr val="64748B"/>
                </a:solidFill>
              </a:rPr>
              <a:t>5 cases per batch</a:t>
            </a:r>
            <a:endParaRPr lang="en-US" sz="750" dirty="0"/>
          </a:p>
        </p:txBody>
      </p:sp>
      <p:sp>
        <p:nvSpPr>
          <p:cNvPr id="14" name="Shape 12"/>
          <p:cNvSpPr/>
          <p:nvPr/>
        </p:nvSpPr>
        <p:spPr>
          <a:xfrm>
            <a:off x="6126480" y="1417320"/>
            <a:ext cx="2606040" cy="914400"/>
          </a:xfrm>
          <a:prstGeom prst="roundRect">
            <a:avLst>
              <a:gd name="adj" fmla="val 8000"/>
            </a:avLst>
          </a:prstGeom>
          <a:solidFill>
            <a:srgbClr val="FFFFFF"/>
          </a:solidFill>
          <a:ln w="10160">
            <a:solidFill>
              <a:srgbClr val="D8DEE8"/>
            </a:solidFill>
            <a:prstDash val="solid"/>
          </a:ln>
        </p:spPr>
      </p:sp>
      <p:sp>
        <p:nvSpPr>
          <p:cNvPr id="15" name="Shape 13"/>
          <p:cNvSpPr/>
          <p:nvPr/>
        </p:nvSpPr>
        <p:spPr>
          <a:xfrm>
            <a:off x="6126480" y="1417320"/>
            <a:ext cx="54864" cy="914400"/>
          </a:xfrm>
          <a:prstGeom prst="rect">
            <a:avLst/>
          </a:prstGeom>
          <a:solidFill>
            <a:srgbClr val="DC2626"/>
          </a:solidFill>
          <a:ln w="12700">
            <a:solidFill>
              <a:srgbClr val="DC2626"/>
            </a:solidFill>
            <a:prstDash val="solid"/>
          </a:ln>
        </p:spPr>
      </p:sp>
      <p:sp>
        <p:nvSpPr>
          <p:cNvPr id="16" name="Text 14"/>
          <p:cNvSpPr/>
          <p:nvPr/>
        </p:nvSpPr>
        <p:spPr>
          <a:xfrm>
            <a:off x="6291072" y="1527048"/>
            <a:ext cx="2350008" cy="384048"/>
          </a:xfrm>
          <a:prstGeom prst="rect">
            <a:avLst/>
          </a:prstGeom>
          <a:noFill/>
          <a:ln/>
        </p:spPr>
        <p:txBody>
          <a:bodyPr wrap="square" lIns="0" tIns="0" rIns="0" bIns="0" rtlCol="0" anchor="ctr"/>
          <a:lstStyle/>
          <a:p>
            <a:pPr indent="0" marL="0">
              <a:buNone/>
            </a:pPr>
            <a:r>
              <a:rPr lang="en-US" sz="2400" b="1" dirty="0">
                <a:solidFill>
                  <a:srgbClr val="0F172A"/>
                </a:solidFill>
              </a:rPr>
              <a:t>0</a:t>
            </a:r>
            <a:endParaRPr lang="en-US" sz="2400" dirty="0"/>
          </a:p>
        </p:txBody>
      </p:sp>
      <p:sp>
        <p:nvSpPr>
          <p:cNvPr id="17" name="Text 15"/>
          <p:cNvSpPr/>
          <p:nvPr/>
        </p:nvSpPr>
        <p:spPr>
          <a:xfrm>
            <a:off x="6291072" y="1929384"/>
            <a:ext cx="2350008" cy="182880"/>
          </a:xfrm>
          <a:prstGeom prst="rect">
            <a:avLst/>
          </a:prstGeom>
          <a:noFill/>
          <a:ln/>
        </p:spPr>
        <p:txBody>
          <a:bodyPr wrap="square" lIns="0" tIns="0" rIns="0" bIns="0" rtlCol="0" anchor="ctr"/>
          <a:lstStyle/>
          <a:p>
            <a:pPr indent="0" marL="0">
              <a:buNone/>
            </a:pPr>
            <a:r>
              <a:rPr lang="en-US" sz="900" b="1" dirty="0">
                <a:solidFill>
                  <a:srgbClr val="475569"/>
                </a:solidFill>
              </a:rPr>
              <a:t>SCORED CASES</a:t>
            </a:r>
            <a:endParaRPr lang="en-US" sz="900" dirty="0"/>
          </a:p>
        </p:txBody>
      </p:sp>
      <p:sp>
        <p:nvSpPr>
          <p:cNvPr id="18" name="Text 16"/>
          <p:cNvSpPr/>
          <p:nvPr/>
        </p:nvSpPr>
        <p:spPr>
          <a:xfrm>
            <a:off x="6291072" y="2121408"/>
            <a:ext cx="2350008" cy="137160"/>
          </a:xfrm>
          <a:prstGeom prst="rect">
            <a:avLst/>
          </a:prstGeom>
          <a:noFill/>
          <a:ln/>
        </p:spPr>
        <p:txBody>
          <a:bodyPr wrap="square" lIns="0" tIns="0" rIns="0" bIns="0" rtlCol="0" anchor="ctr"/>
          <a:lstStyle/>
          <a:p>
            <a:pPr indent="0" marL="0">
              <a:buNone/>
            </a:pPr>
            <a:r>
              <a:rPr lang="en-US" sz="750" dirty="0">
                <a:solidFill>
                  <a:srgbClr val="64748B"/>
                </a:solidFill>
              </a:rPr>
              <a:t>Score = N/A for all cases</a:t>
            </a:r>
            <a:endParaRPr lang="en-US" sz="750" dirty="0"/>
          </a:p>
        </p:txBody>
      </p:sp>
      <p:sp>
        <p:nvSpPr>
          <p:cNvPr id="19" name="Shape 17"/>
          <p:cNvSpPr/>
          <p:nvPr/>
        </p:nvSpPr>
        <p:spPr>
          <a:xfrm>
            <a:off x="8915400" y="1417320"/>
            <a:ext cx="2606040" cy="914400"/>
          </a:xfrm>
          <a:prstGeom prst="roundRect">
            <a:avLst>
              <a:gd name="adj" fmla="val 8000"/>
            </a:avLst>
          </a:prstGeom>
          <a:solidFill>
            <a:srgbClr val="FFFFFF"/>
          </a:solidFill>
          <a:ln w="10160">
            <a:solidFill>
              <a:srgbClr val="D8DEE8"/>
            </a:solidFill>
            <a:prstDash val="solid"/>
          </a:ln>
        </p:spPr>
      </p:sp>
      <p:sp>
        <p:nvSpPr>
          <p:cNvPr id="20" name="Shape 18"/>
          <p:cNvSpPr/>
          <p:nvPr/>
        </p:nvSpPr>
        <p:spPr>
          <a:xfrm>
            <a:off x="8915400" y="1417320"/>
            <a:ext cx="54864" cy="914400"/>
          </a:xfrm>
          <a:prstGeom prst="rect">
            <a:avLst/>
          </a:prstGeom>
          <a:solidFill>
            <a:srgbClr val="D97706"/>
          </a:solidFill>
          <a:ln w="12700">
            <a:solidFill>
              <a:srgbClr val="D97706"/>
            </a:solidFill>
            <a:prstDash val="solid"/>
          </a:ln>
        </p:spPr>
      </p:sp>
      <p:sp>
        <p:nvSpPr>
          <p:cNvPr id="21" name="Text 19"/>
          <p:cNvSpPr/>
          <p:nvPr/>
        </p:nvSpPr>
        <p:spPr>
          <a:xfrm>
            <a:off x="9079992" y="1527048"/>
            <a:ext cx="2350008" cy="384048"/>
          </a:xfrm>
          <a:prstGeom prst="rect">
            <a:avLst/>
          </a:prstGeom>
          <a:noFill/>
          <a:ln/>
        </p:spPr>
        <p:txBody>
          <a:bodyPr wrap="square" lIns="0" tIns="0" rIns="0" bIns="0" rtlCol="0" anchor="ctr"/>
          <a:lstStyle/>
          <a:p>
            <a:pPr indent="0" marL="0">
              <a:buNone/>
            </a:pPr>
            <a:r>
              <a:rPr lang="en-US" sz="2400" b="1" dirty="0">
                <a:solidFill>
                  <a:srgbClr val="0F172A"/>
                </a:solidFill>
              </a:rPr>
              <a:t>N/A</a:t>
            </a:r>
            <a:endParaRPr lang="en-US" sz="2400" dirty="0"/>
          </a:p>
        </p:txBody>
      </p:sp>
      <p:sp>
        <p:nvSpPr>
          <p:cNvPr id="22" name="Text 20"/>
          <p:cNvSpPr/>
          <p:nvPr/>
        </p:nvSpPr>
        <p:spPr>
          <a:xfrm>
            <a:off x="9079992" y="1929384"/>
            <a:ext cx="2350008" cy="182880"/>
          </a:xfrm>
          <a:prstGeom prst="rect">
            <a:avLst/>
          </a:prstGeom>
          <a:noFill/>
          <a:ln/>
        </p:spPr>
        <p:txBody>
          <a:bodyPr wrap="square" lIns="0" tIns="0" rIns="0" bIns="0" rtlCol="0" anchor="ctr"/>
          <a:lstStyle/>
          <a:p>
            <a:pPr indent="0" marL="0">
              <a:buNone/>
            </a:pPr>
            <a:r>
              <a:rPr lang="en-US" sz="900" b="1" dirty="0">
                <a:solidFill>
                  <a:srgbClr val="475569"/>
                </a:solidFill>
              </a:rPr>
              <a:t>PASS RATE</a:t>
            </a:r>
            <a:endParaRPr lang="en-US" sz="900" dirty="0"/>
          </a:p>
        </p:txBody>
      </p:sp>
      <p:sp>
        <p:nvSpPr>
          <p:cNvPr id="23" name="Text 21"/>
          <p:cNvSpPr/>
          <p:nvPr/>
        </p:nvSpPr>
        <p:spPr>
          <a:xfrm>
            <a:off x="9079992" y="2121408"/>
            <a:ext cx="2350008" cy="137160"/>
          </a:xfrm>
          <a:prstGeom prst="rect">
            <a:avLst/>
          </a:prstGeom>
          <a:noFill/>
          <a:ln/>
        </p:spPr>
        <p:txBody>
          <a:bodyPr wrap="square" lIns="0" tIns="0" rIns="0" bIns="0" rtlCol="0" anchor="ctr"/>
          <a:lstStyle/>
          <a:p>
            <a:pPr indent="0" marL="0">
              <a:buNone/>
            </a:pPr>
            <a:r>
              <a:rPr lang="en-US" sz="750" dirty="0">
                <a:solidFill>
                  <a:srgbClr val="64748B"/>
                </a:solidFill>
              </a:rPr>
              <a:t>Cannot be computed</a:t>
            </a:r>
            <a:endParaRPr lang="en-US" sz="750" dirty="0"/>
          </a:p>
        </p:txBody>
      </p:sp>
      <p:sp>
        <p:nvSpPr>
          <p:cNvPr id="24" name="Shape 22"/>
          <p:cNvSpPr/>
          <p:nvPr/>
        </p:nvSpPr>
        <p:spPr>
          <a:xfrm>
            <a:off x="548640" y="2606040"/>
            <a:ext cx="10972800" cy="1051560"/>
          </a:xfrm>
          <a:prstGeom prst="roundRect">
            <a:avLst>
              <a:gd name="adj" fmla="val 6957"/>
            </a:avLst>
          </a:prstGeom>
          <a:solidFill>
            <a:srgbClr val="FFF7ED"/>
          </a:solidFill>
          <a:ln w="10160">
            <a:solidFill>
              <a:srgbClr val="FED7AA"/>
            </a:solidFill>
            <a:prstDash val="solid"/>
          </a:ln>
        </p:spPr>
      </p:sp>
      <p:sp>
        <p:nvSpPr>
          <p:cNvPr id="25" name="Text 23"/>
          <p:cNvSpPr/>
          <p:nvPr/>
        </p:nvSpPr>
        <p:spPr>
          <a:xfrm>
            <a:off x="777240" y="2788920"/>
            <a:ext cx="1920240" cy="228600"/>
          </a:xfrm>
          <a:prstGeom prst="rect">
            <a:avLst/>
          </a:prstGeom>
          <a:noFill/>
          <a:ln/>
        </p:spPr>
        <p:txBody>
          <a:bodyPr wrap="square" lIns="0" tIns="0" rIns="0" bIns="0" rtlCol="0" anchor="ctr"/>
          <a:lstStyle/>
          <a:p>
            <a:pPr indent="0" marL="0">
              <a:buNone/>
            </a:pPr>
            <a:r>
              <a:rPr lang="en-US" sz="1200" b="1" dirty="0">
                <a:solidFill>
                  <a:srgbClr val="9A3412"/>
                </a:solidFill>
              </a:rPr>
              <a:t>Critical interpretation</a:t>
            </a:r>
            <a:endParaRPr lang="en-US" sz="1200" dirty="0"/>
          </a:p>
        </p:txBody>
      </p:sp>
      <p:sp>
        <p:nvSpPr>
          <p:cNvPr id="26" name="Text 24"/>
          <p:cNvSpPr/>
          <p:nvPr/>
        </p:nvSpPr>
        <p:spPr>
          <a:xfrm>
            <a:off x="2560320" y="2724912"/>
            <a:ext cx="8641080" cy="530352"/>
          </a:xfrm>
          <a:prstGeom prst="rect">
            <a:avLst/>
          </a:prstGeom>
          <a:noFill/>
          <a:ln/>
        </p:spPr>
        <p:txBody>
          <a:bodyPr wrap="square" lIns="0" tIns="0" rIns="0" bIns="0" rtlCol="0" anchor="ctr">
            <a:normAutofit/>
          </a:bodyPr>
          <a:lstStyle/>
          <a:p>
            <a:pPr indent="0" marL="0">
              <a:buNone/>
            </a:pPr>
            <a:r>
              <a:rPr lang="en-US" sz="1200" dirty="0">
                <a:solidFill>
                  <a:srgbClr val="111827"/>
                </a:solidFill>
              </a:rPr>
              <a:t>The benchmark runner successfully submitted and tracked all 18 batches, but the merged case objects contain no status, category, score, risk or expectation outcome. The current artifact is therefore an orchestration test—not a valid quality benchmark.</a:t>
            </a:r>
            <a:endParaRPr lang="en-US" sz="1200" dirty="0"/>
          </a:p>
        </p:txBody>
      </p:sp>
      <p:sp>
        <p:nvSpPr>
          <p:cNvPr id="27" name="Text 25"/>
          <p:cNvSpPr/>
          <p:nvPr/>
        </p:nvSpPr>
        <p:spPr>
          <a:xfrm>
            <a:off x="685800" y="396849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28" name="Text 26"/>
          <p:cNvSpPr/>
          <p:nvPr/>
        </p:nvSpPr>
        <p:spPr>
          <a:xfrm>
            <a:off x="886968" y="3977640"/>
            <a:ext cx="4965192" cy="347472"/>
          </a:xfrm>
          <a:prstGeom prst="rect">
            <a:avLst/>
          </a:prstGeom>
          <a:noFill/>
          <a:ln/>
        </p:spPr>
        <p:txBody>
          <a:bodyPr wrap="square" lIns="0" tIns="0" rIns="0" bIns="0" rtlCol="0" anchor="ctr">
            <a:normAutofit/>
          </a:bodyPr>
          <a:lstStyle/>
          <a:p>
            <a:pPr indent="0" marL="0">
              <a:buNone/>
            </a:pPr>
            <a:r>
              <a:rPr lang="en-US" sz="1100" dirty="0">
                <a:solidFill>
                  <a:srgbClr val="111827"/>
                </a:solidFill>
              </a:rPr>
              <a:t>Do not publish “90-case benchmark results” as model-quality evidence yet.</a:t>
            </a:r>
            <a:endParaRPr lang="en-US" sz="1100" dirty="0"/>
          </a:p>
        </p:txBody>
      </p:sp>
      <p:sp>
        <p:nvSpPr>
          <p:cNvPr id="29" name="Text 27"/>
          <p:cNvSpPr/>
          <p:nvPr/>
        </p:nvSpPr>
        <p:spPr>
          <a:xfrm>
            <a:off x="685800" y="442569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0" name="Text 28"/>
          <p:cNvSpPr/>
          <p:nvPr/>
        </p:nvSpPr>
        <p:spPr>
          <a:xfrm>
            <a:off x="886968" y="4434840"/>
            <a:ext cx="4965192" cy="347472"/>
          </a:xfrm>
          <a:prstGeom prst="rect">
            <a:avLst/>
          </a:prstGeom>
          <a:noFill/>
          <a:ln/>
        </p:spPr>
        <p:txBody>
          <a:bodyPr wrap="square" lIns="0" tIns="0" rIns="0" bIns="0" rtlCol="0" anchor="ctr">
            <a:normAutofit/>
          </a:bodyPr>
          <a:lstStyle/>
          <a:p>
            <a:pPr indent="0" marL="0">
              <a:buNone/>
            </a:pPr>
            <a:r>
              <a:rPr lang="en-US" sz="1100" dirty="0">
                <a:solidFill>
                  <a:srgbClr val="111827"/>
                </a:solidFill>
              </a:rPr>
              <a:t>Treat batch completion and case-result completion as separate state machines.</a:t>
            </a:r>
            <a:endParaRPr lang="en-US" sz="1100" dirty="0"/>
          </a:p>
        </p:txBody>
      </p:sp>
      <p:sp>
        <p:nvSpPr>
          <p:cNvPr id="31" name="Text 29"/>
          <p:cNvSpPr/>
          <p:nvPr/>
        </p:nvSpPr>
        <p:spPr>
          <a:xfrm>
            <a:off x="6080760" y="396849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2" name="Text 30"/>
          <p:cNvSpPr/>
          <p:nvPr/>
        </p:nvSpPr>
        <p:spPr>
          <a:xfrm>
            <a:off x="6281928" y="3977640"/>
            <a:ext cx="4782312" cy="347472"/>
          </a:xfrm>
          <a:prstGeom prst="rect">
            <a:avLst/>
          </a:prstGeom>
          <a:noFill/>
          <a:ln/>
        </p:spPr>
        <p:txBody>
          <a:bodyPr wrap="square" lIns="0" tIns="0" rIns="0" bIns="0" rtlCol="0" anchor="ctr">
            <a:normAutofit/>
          </a:bodyPr>
          <a:lstStyle/>
          <a:p>
            <a:pPr indent="0" marL="0">
              <a:buNone/>
            </a:pPr>
            <a:r>
              <a:rPr lang="en-US" sz="1100" dirty="0">
                <a:solidFill>
                  <a:srgbClr val="111827"/>
                </a:solidFill>
              </a:rPr>
              <a:t>Add a strict result schema contract before a batch may become COMPLETE.</a:t>
            </a:r>
            <a:endParaRPr lang="en-US" sz="1100" dirty="0"/>
          </a:p>
        </p:txBody>
      </p:sp>
      <p:sp>
        <p:nvSpPr>
          <p:cNvPr id="33" name="Text 31"/>
          <p:cNvSpPr/>
          <p:nvPr/>
        </p:nvSpPr>
        <p:spPr>
          <a:xfrm>
            <a:off x="6080760" y="442569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4" name="Text 32"/>
          <p:cNvSpPr/>
          <p:nvPr/>
        </p:nvSpPr>
        <p:spPr>
          <a:xfrm>
            <a:off x="6281928" y="4434840"/>
            <a:ext cx="4782312" cy="347472"/>
          </a:xfrm>
          <a:prstGeom prst="rect">
            <a:avLst/>
          </a:prstGeom>
          <a:noFill/>
          <a:ln/>
        </p:spPr>
        <p:txBody>
          <a:bodyPr wrap="square" lIns="0" tIns="0" rIns="0" bIns="0" rtlCol="0" anchor="ctr">
            <a:normAutofit/>
          </a:bodyPr>
          <a:lstStyle/>
          <a:p>
            <a:pPr indent="0" marL="0">
              <a:buNone/>
            </a:pPr>
            <a:r>
              <a:rPr lang="en-US" sz="1100" dirty="0">
                <a:solidFill>
                  <a:srgbClr val="111827"/>
                </a:solidFill>
              </a:rPr>
              <a:t>Persist raw provider response + normalized result for forensic replay.</a:t>
            </a:r>
            <a:endParaRPr lang="en-US" sz="1100" dirty="0"/>
          </a:p>
        </p:txBody>
      </p:sp>
      <p:sp>
        <p:nvSpPr>
          <p:cNvPr id="35" name="Shape 33"/>
          <p:cNvSpPr/>
          <p:nvPr/>
        </p:nvSpPr>
        <p:spPr>
          <a:xfrm>
            <a:off x="685800" y="5166360"/>
            <a:ext cx="2057400" cy="274320"/>
          </a:xfrm>
          <a:prstGeom prst="roundRect">
            <a:avLst/>
          </a:prstGeom>
          <a:solidFill>
            <a:srgbClr val="059669"/>
          </a:solidFill>
          <a:ln w="12700">
            <a:solidFill>
              <a:srgbClr val="059669"/>
            </a:solidFill>
            <a:prstDash val="solid"/>
          </a:ln>
        </p:spPr>
      </p:sp>
      <p:sp>
        <p:nvSpPr>
          <p:cNvPr id="36" name="Text 34"/>
          <p:cNvSpPr/>
          <p:nvPr/>
        </p:nvSpPr>
        <p:spPr>
          <a:xfrm>
            <a:off x="731520" y="5216652"/>
            <a:ext cx="1965960" cy="137160"/>
          </a:xfrm>
          <a:prstGeom prst="rect">
            <a:avLst/>
          </a:prstGeom>
          <a:noFill/>
          <a:ln/>
        </p:spPr>
        <p:txBody>
          <a:bodyPr wrap="square" lIns="0" tIns="0" rIns="0" bIns="0" rtlCol="0" anchor="ctr"/>
          <a:lstStyle/>
          <a:p>
            <a:pPr algn="ctr" indent="0" marL="0">
              <a:buNone/>
            </a:pPr>
            <a:r>
              <a:rPr lang="en-US" sz="800" b="1" dirty="0">
                <a:solidFill>
                  <a:srgbClr val="FFFFFF"/>
                </a:solidFill>
              </a:rPr>
              <a:t>ORCHESTRATION: PASS</a:t>
            </a:r>
            <a:endParaRPr lang="en-US" sz="800" dirty="0"/>
          </a:p>
        </p:txBody>
      </p:sp>
      <p:sp>
        <p:nvSpPr>
          <p:cNvPr id="37" name="Shape 35"/>
          <p:cNvSpPr/>
          <p:nvPr/>
        </p:nvSpPr>
        <p:spPr>
          <a:xfrm>
            <a:off x="2971800" y="5166360"/>
            <a:ext cx="2148840" cy="274320"/>
          </a:xfrm>
          <a:prstGeom prst="roundRect">
            <a:avLst/>
          </a:prstGeom>
          <a:solidFill>
            <a:srgbClr val="DC2626"/>
          </a:solidFill>
          <a:ln w="12700">
            <a:solidFill>
              <a:srgbClr val="DC2626"/>
            </a:solidFill>
            <a:prstDash val="solid"/>
          </a:ln>
        </p:spPr>
      </p:sp>
      <p:sp>
        <p:nvSpPr>
          <p:cNvPr id="38" name="Text 36"/>
          <p:cNvSpPr/>
          <p:nvPr/>
        </p:nvSpPr>
        <p:spPr>
          <a:xfrm>
            <a:off x="3017520" y="5216652"/>
            <a:ext cx="2057400" cy="137160"/>
          </a:xfrm>
          <a:prstGeom prst="rect">
            <a:avLst/>
          </a:prstGeom>
          <a:noFill/>
          <a:ln/>
        </p:spPr>
        <p:txBody>
          <a:bodyPr wrap="square" lIns="0" tIns="0" rIns="0" bIns="0" rtlCol="0" anchor="ctr"/>
          <a:lstStyle/>
          <a:p>
            <a:pPr algn="ctr" indent="0" marL="0">
              <a:buNone/>
            </a:pPr>
            <a:r>
              <a:rPr lang="en-US" sz="800" b="1" dirty="0">
                <a:solidFill>
                  <a:srgbClr val="FFFFFF"/>
                </a:solidFill>
              </a:rPr>
              <a:t>RESULT INGESTION: FAIL</a:t>
            </a:r>
            <a:endParaRPr lang="en-US" sz="800" dirty="0"/>
          </a:p>
        </p:txBody>
      </p:sp>
      <p:sp>
        <p:nvSpPr>
          <p:cNvPr id="39" name="Shape 37"/>
          <p:cNvSpPr/>
          <p:nvPr/>
        </p:nvSpPr>
        <p:spPr>
          <a:xfrm>
            <a:off x="5349240" y="5166360"/>
            <a:ext cx="2194560" cy="274320"/>
          </a:xfrm>
          <a:prstGeom prst="roundRect">
            <a:avLst/>
          </a:prstGeom>
          <a:solidFill>
            <a:srgbClr val="D97706"/>
          </a:solidFill>
          <a:ln w="12700">
            <a:solidFill>
              <a:srgbClr val="D97706"/>
            </a:solidFill>
            <a:prstDash val="solid"/>
          </a:ln>
        </p:spPr>
      </p:sp>
      <p:sp>
        <p:nvSpPr>
          <p:cNvPr id="40" name="Text 38"/>
          <p:cNvSpPr/>
          <p:nvPr/>
        </p:nvSpPr>
        <p:spPr>
          <a:xfrm>
            <a:off x="5394960" y="5216652"/>
            <a:ext cx="2103120" cy="137160"/>
          </a:xfrm>
          <a:prstGeom prst="rect">
            <a:avLst/>
          </a:prstGeom>
          <a:noFill/>
          <a:ln/>
        </p:spPr>
        <p:txBody>
          <a:bodyPr wrap="square" lIns="0" tIns="0" rIns="0" bIns="0" rtlCol="0" anchor="ctr"/>
          <a:lstStyle/>
          <a:p>
            <a:pPr algn="ctr" indent="0" marL="0">
              <a:buNone/>
            </a:pPr>
            <a:r>
              <a:rPr lang="en-US" sz="800" b="1" dirty="0">
                <a:solidFill>
                  <a:srgbClr val="FFFFFF"/>
                </a:solidFill>
              </a:rPr>
              <a:t>QUALITY EVIDENCE: BLOCKED</a:t>
            </a:r>
            <a:endParaRPr lang="en-US" sz="8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Evidence pattern: completion signals contradict case-level evidence</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The contradiction is systematic across the entire report, not isolated to one batch.</a:t>
            </a:r>
            <a:endParaRPr lang="en-US" sz="1150" dirty="0"/>
          </a:p>
        </p:txBody>
      </p:sp>
      <p:sp>
        <p:nvSpPr>
          <p:cNvPr id="4" name="Shape 2"/>
          <p:cNvSpPr/>
          <p:nvPr/>
        </p:nvSpPr>
        <p:spPr>
          <a:xfrm>
            <a:off x="594360" y="1417320"/>
            <a:ext cx="5166360" cy="4480560"/>
          </a:xfrm>
          <a:prstGeom prst="roundRect">
            <a:avLst>
              <a:gd name="adj" fmla="val 1633"/>
            </a:avLst>
          </a:prstGeom>
          <a:solidFill>
            <a:srgbClr val="FFFFFF"/>
          </a:solidFill>
          <a:ln w="10160">
            <a:solidFill>
              <a:srgbClr val="D8DEE8"/>
            </a:solidFill>
            <a:prstDash val="solid"/>
          </a:ln>
        </p:spPr>
      </p:sp>
      <p:sp>
        <p:nvSpPr>
          <p:cNvPr id="5" name="Text 3"/>
          <p:cNvSpPr/>
          <p:nvPr/>
        </p:nvSpPr>
        <p:spPr>
          <a:xfrm>
            <a:off x="868680" y="1664208"/>
            <a:ext cx="1920240" cy="228600"/>
          </a:xfrm>
          <a:prstGeom prst="rect">
            <a:avLst/>
          </a:prstGeom>
          <a:noFill/>
          <a:ln/>
        </p:spPr>
        <p:txBody>
          <a:bodyPr wrap="square" lIns="0" tIns="0" rIns="0" bIns="0" rtlCol="0" anchor="ctr"/>
          <a:lstStyle/>
          <a:p>
            <a:pPr indent="0" marL="0">
              <a:buNone/>
            </a:pPr>
            <a:r>
              <a:rPr lang="en-US" sz="1100" b="1" spc="100" kern="0" dirty="0">
                <a:solidFill>
                  <a:srgbClr val="059669"/>
                </a:solidFill>
              </a:rPr>
              <a:t>CONTROL PLANE</a:t>
            </a:r>
            <a:endParaRPr lang="en-US" sz="1100" dirty="0"/>
          </a:p>
        </p:txBody>
      </p:sp>
      <p:sp>
        <p:nvSpPr>
          <p:cNvPr id="6" name="Text 4"/>
          <p:cNvSpPr/>
          <p:nvPr/>
        </p:nvSpPr>
        <p:spPr>
          <a:xfrm>
            <a:off x="868680" y="2057400"/>
            <a:ext cx="2194560" cy="566928"/>
          </a:xfrm>
          <a:prstGeom prst="rect">
            <a:avLst/>
          </a:prstGeom>
          <a:noFill/>
          <a:ln/>
        </p:spPr>
        <p:txBody>
          <a:bodyPr wrap="square" lIns="0" tIns="0" rIns="0" bIns="0" rtlCol="0" anchor="ctr"/>
          <a:lstStyle/>
          <a:p>
            <a:pPr indent="0" marL="0">
              <a:buNone/>
            </a:pPr>
            <a:r>
              <a:rPr lang="en-US" sz="3800" b="1" dirty="0">
                <a:solidFill>
                  <a:srgbClr val="059669"/>
                </a:solidFill>
              </a:rPr>
              <a:t>18/18</a:t>
            </a:r>
            <a:endParaRPr lang="en-US" sz="3800" dirty="0"/>
          </a:p>
        </p:txBody>
      </p:sp>
      <p:sp>
        <p:nvSpPr>
          <p:cNvPr id="7" name="Text 5"/>
          <p:cNvSpPr/>
          <p:nvPr/>
        </p:nvSpPr>
        <p:spPr>
          <a:xfrm>
            <a:off x="868680" y="2615184"/>
            <a:ext cx="3108960" cy="256032"/>
          </a:xfrm>
          <a:prstGeom prst="rect">
            <a:avLst/>
          </a:prstGeom>
          <a:noFill/>
          <a:ln/>
        </p:spPr>
        <p:txBody>
          <a:bodyPr wrap="square" lIns="0" tIns="0" rIns="0" bIns="0" rtlCol="0" anchor="ctr"/>
          <a:lstStyle/>
          <a:p>
            <a:pPr indent="0" marL="0">
              <a:buNone/>
            </a:pPr>
            <a:r>
              <a:rPr lang="en-US" sz="1200" dirty="0">
                <a:solidFill>
                  <a:srgbClr val="475569"/>
                </a:solidFill>
              </a:rPr>
              <a:t>batches reported completed</a:t>
            </a:r>
            <a:endParaRPr lang="en-US" sz="1200" dirty="0"/>
          </a:p>
        </p:txBody>
      </p:sp>
      <p:sp>
        <p:nvSpPr>
          <p:cNvPr id="8" name="Shape 6"/>
          <p:cNvSpPr/>
          <p:nvPr/>
        </p:nvSpPr>
        <p:spPr>
          <a:xfrm>
            <a:off x="896112" y="3154680"/>
            <a:ext cx="320040" cy="320040"/>
          </a:xfrm>
          <a:prstGeom prst="roundRect">
            <a:avLst/>
          </a:prstGeom>
          <a:solidFill>
            <a:srgbClr val="DCFCE7"/>
          </a:solidFill>
          <a:ln w="12700">
            <a:solidFill>
              <a:srgbClr val="86EFAC"/>
            </a:solidFill>
            <a:prstDash val="solid"/>
          </a:ln>
        </p:spPr>
      </p:sp>
      <p:sp>
        <p:nvSpPr>
          <p:cNvPr id="9" name="Text 7"/>
          <p:cNvSpPr/>
          <p:nvPr/>
        </p:nvSpPr>
        <p:spPr>
          <a:xfrm>
            <a:off x="8961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a:t>
            </a:r>
            <a:endParaRPr lang="en-US" sz="650" dirty="0"/>
          </a:p>
        </p:txBody>
      </p:sp>
      <p:sp>
        <p:nvSpPr>
          <p:cNvPr id="10" name="Shape 8"/>
          <p:cNvSpPr/>
          <p:nvPr/>
        </p:nvSpPr>
        <p:spPr>
          <a:xfrm>
            <a:off x="1353312" y="3154680"/>
            <a:ext cx="320040" cy="320040"/>
          </a:xfrm>
          <a:prstGeom prst="roundRect">
            <a:avLst/>
          </a:prstGeom>
          <a:solidFill>
            <a:srgbClr val="DCFCE7"/>
          </a:solidFill>
          <a:ln w="12700">
            <a:solidFill>
              <a:srgbClr val="86EFAC"/>
            </a:solidFill>
            <a:prstDash val="solid"/>
          </a:ln>
        </p:spPr>
      </p:sp>
      <p:sp>
        <p:nvSpPr>
          <p:cNvPr id="11" name="Text 9"/>
          <p:cNvSpPr/>
          <p:nvPr/>
        </p:nvSpPr>
        <p:spPr>
          <a:xfrm>
            <a:off x="13533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2</a:t>
            </a:r>
            <a:endParaRPr lang="en-US" sz="650" dirty="0"/>
          </a:p>
        </p:txBody>
      </p:sp>
      <p:sp>
        <p:nvSpPr>
          <p:cNvPr id="12" name="Shape 10"/>
          <p:cNvSpPr/>
          <p:nvPr/>
        </p:nvSpPr>
        <p:spPr>
          <a:xfrm>
            <a:off x="1810512" y="3154680"/>
            <a:ext cx="320040" cy="320040"/>
          </a:xfrm>
          <a:prstGeom prst="roundRect">
            <a:avLst/>
          </a:prstGeom>
          <a:solidFill>
            <a:srgbClr val="DCFCE7"/>
          </a:solidFill>
          <a:ln w="12700">
            <a:solidFill>
              <a:srgbClr val="86EFAC"/>
            </a:solidFill>
            <a:prstDash val="solid"/>
          </a:ln>
        </p:spPr>
      </p:sp>
      <p:sp>
        <p:nvSpPr>
          <p:cNvPr id="13" name="Text 11"/>
          <p:cNvSpPr/>
          <p:nvPr/>
        </p:nvSpPr>
        <p:spPr>
          <a:xfrm>
            <a:off x="18105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3</a:t>
            </a:r>
            <a:endParaRPr lang="en-US" sz="650" dirty="0"/>
          </a:p>
        </p:txBody>
      </p:sp>
      <p:sp>
        <p:nvSpPr>
          <p:cNvPr id="14" name="Shape 12"/>
          <p:cNvSpPr/>
          <p:nvPr/>
        </p:nvSpPr>
        <p:spPr>
          <a:xfrm>
            <a:off x="2267712" y="3154680"/>
            <a:ext cx="320040" cy="320040"/>
          </a:xfrm>
          <a:prstGeom prst="roundRect">
            <a:avLst/>
          </a:prstGeom>
          <a:solidFill>
            <a:srgbClr val="DCFCE7"/>
          </a:solidFill>
          <a:ln w="12700">
            <a:solidFill>
              <a:srgbClr val="86EFAC"/>
            </a:solidFill>
            <a:prstDash val="solid"/>
          </a:ln>
        </p:spPr>
      </p:sp>
      <p:sp>
        <p:nvSpPr>
          <p:cNvPr id="15" name="Text 13"/>
          <p:cNvSpPr/>
          <p:nvPr/>
        </p:nvSpPr>
        <p:spPr>
          <a:xfrm>
            <a:off x="22677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4</a:t>
            </a:r>
            <a:endParaRPr lang="en-US" sz="650" dirty="0"/>
          </a:p>
        </p:txBody>
      </p:sp>
      <p:sp>
        <p:nvSpPr>
          <p:cNvPr id="16" name="Shape 14"/>
          <p:cNvSpPr/>
          <p:nvPr/>
        </p:nvSpPr>
        <p:spPr>
          <a:xfrm>
            <a:off x="2724912" y="3154680"/>
            <a:ext cx="320040" cy="320040"/>
          </a:xfrm>
          <a:prstGeom prst="roundRect">
            <a:avLst/>
          </a:prstGeom>
          <a:solidFill>
            <a:srgbClr val="DCFCE7"/>
          </a:solidFill>
          <a:ln w="12700">
            <a:solidFill>
              <a:srgbClr val="86EFAC"/>
            </a:solidFill>
            <a:prstDash val="solid"/>
          </a:ln>
        </p:spPr>
      </p:sp>
      <p:sp>
        <p:nvSpPr>
          <p:cNvPr id="17" name="Text 15"/>
          <p:cNvSpPr/>
          <p:nvPr/>
        </p:nvSpPr>
        <p:spPr>
          <a:xfrm>
            <a:off x="27249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5</a:t>
            </a:r>
            <a:endParaRPr lang="en-US" sz="650" dirty="0"/>
          </a:p>
        </p:txBody>
      </p:sp>
      <p:sp>
        <p:nvSpPr>
          <p:cNvPr id="18" name="Shape 16"/>
          <p:cNvSpPr/>
          <p:nvPr/>
        </p:nvSpPr>
        <p:spPr>
          <a:xfrm>
            <a:off x="3182112" y="3154680"/>
            <a:ext cx="320040" cy="320040"/>
          </a:xfrm>
          <a:prstGeom prst="roundRect">
            <a:avLst/>
          </a:prstGeom>
          <a:solidFill>
            <a:srgbClr val="DCFCE7"/>
          </a:solidFill>
          <a:ln w="12700">
            <a:solidFill>
              <a:srgbClr val="86EFAC"/>
            </a:solidFill>
            <a:prstDash val="solid"/>
          </a:ln>
        </p:spPr>
      </p:sp>
      <p:sp>
        <p:nvSpPr>
          <p:cNvPr id="19" name="Text 17"/>
          <p:cNvSpPr/>
          <p:nvPr/>
        </p:nvSpPr>
        <p:spPr>
          <a:xfrm>
            <a:off x="31821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6</a:t>
            </a:r>
            <a:endParaRPr lang="en-US" sz="650" dirty="0"/>
          </a:p>
        </p:txBody>
      </p:sp>
      <p:sp>
        <p:nvSpPr>
          <p:cNvPr id="20" name="Shape 18"/>
          <p:cNvSpPr/>
          <p:nvPr/>
        </p:nvSpPr>
        <p:spPr>
          <a:xfrm>
            <a:off x="3639312" y="3154680"/>
            <a:ext cx="320040" cy="320040"/>
          </a:xfrm>
          <a:prstGeom prst="roundRect">
            <a:avLst/>
          </a:prstGeom>
          <a:solidFill>
            <a:srgbClr val="DCFCE7"/>
          </a:solidFill>
          <a:ln w="12700">
            <a:solidFill>
              <a:srgbClr val="86EFAC"/>
            </a:solidFill>
            <a:prstDash val="solid"/>
          </a:ln>
        </p:spPr>
      </p:sp>
      <p:sp>
        <p:nvSpPr>
          <p:cNvPr id="21" name="Text 19"/>
          <p:cNvSpPr/>
          <p:nvPr/>
        </p:nvSpPr>
        <p:spPr>
          <a:xfrm>
            <a:off x="36393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7</a:t>
            </a:r>
            <a:endParaRPr lang="en-US" sz="650" dirty="0"/>
          </a:p>
        </p:txBody>
      </p:sp>
      <p:sp>
        <p:nvSpPr>
          <p:cNvPr id="22" name="Shape 20"/>
          <p:cNvSpPr/>
          <p:nvPr/>
        </p:nvSpPr>
        <p:spPr>
          <a:xfrm>
            <a:off x="4096512" y="3154680"/>
            <a:ext cx="320040" cy="320040"/>
          </a:xfrm>
          <a:prstGeom prst="roundRect">
            <a:avLst/>
          </a:prstGeom>
          <a:solidFill>
            <a:srgbClr val="DCFCE7"/>
          </a:solidFill>
          <a:ln w="12700">
            <a:solidFill>
              <a:srgbClr val="86EFAC"/>
            </a:solidFill>
            <a:prstDash val="solid"/>
          </a:ln>
        </p:spPr>
      </p:sp>
      <p:sp>
        <p:nvSpPr>
          <p:cNvPr id="23" name="Text 21"/>
          <p:cNvSpPr/>
          <p:nvPr/>
        </p:nvSpPr>
        <p:spPr>
          <a:xfrm>
            <a:off x="40965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8</a:t>
            </a:r>
            <a:endParaRPr lang="en-US" sz="650" dirty="0"/>
          </a:p>
        </p:txBody>
      </p:sp>
      <p:sp>
        <p:nvSpPr>
          <p:cNvPr id="24" name="Shape 22"/>
          <p:cNvSpPr/>
          <p:nvPr/>
        </p:nvSpPr>
        <p:spPr>
          <a:xfrm>
            <a:off x="4553712" y="3154680"/>
            <a:ext cx="320040" cy="320040"/>
          </a:xfrm>
          <a:prstGeom prst="roundRect">
            <a:avLst/>
          </a:prstGeom>
          <a:solidFill>
            <a:srgbClr val="DCFCE7"/>
          </a:solidFill>
          <a:ln w="12700">
            <a:solidFill>
              <a:srgbClr val="86EFAC"/>
            </a:solidFill>
            <a:prstDash val="solid"/>
          </a:ln>
        </p:spPr>
      </p:sp>
      <p:sp>
        <p:nvSpPr>
          <p:cNvPr id="25" name="Text 23"/>
          <p:cNvSpPr/>
          <p:nvPr/>
        </p:nvSpPr>
        <p:spPr>
          <a:xfrm>
            <a:off x="4553712" y="323697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9</a:t>
            </a:r>
            <a:endParaRPr lang="en-US" sz="650" dirty="0"/>
          </a:p>
        </p:txBody>
      </p:sp>
      <p:sp>
        <p:nvSpPr>
          <p:cNvPr id="26" name="Shape 24"/>
          <p:cNvSpPr/>
          <p:nvPr/>
        </p:nvSpPr>
        <p:spPr>
          <a:xfrm>
            <a:off x="896112" y="3657600"/>
            <a:ext cx="320040" cy="320040"/>
          </a:xfrm>
          <a:prstGeom prst="roundRect">
            <a:avLst/>
          </a:prstGeom>
          <a:solidFill>
            <a:srgbClr val="DCFCE7"/>
          </a:solidFill>
          <a:ln w="12700">
            <a:solidFill>
              <a:srgbClr val="86EFAC"/>
            </a:solidFill>
            <a:prstDash val="solid"/>
          </a:ln>
        </p:spPr>
      </p:sp>
      <p:sp>
        <p:nvSpPr>
          <p:cNvPr id="27" name="Text 25"/>
          <p:cNvSpPr/>
          <p:nvPr/>
        </p:nvSpPr>
        <p:spPr>
          <a:xfrm>
            <a:off x="8961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10</a:t>
            </a:r>
            <a:endParaRPr lang="en-US" sz="650" dirty="0"/>
          </a:p>
        </p:txBody>
      </p:sp>
      <p:sp>
        <p:nvSpPr>
          <p:cNvPr id="28" name="Shape 26"/>
          <p:cNvSpPr/>
          <p:nvPr/>
        </p:nvSpPr>
        <p:spPr>
          <a:xfrm>
            <a:off x="1353312" y="3657600"/>
            <a:ext cx="320040" cy="320040"/>
          </a:xfrm>
          <a:prstGeom prst="roundRect">
            <a:avLst/>
          </a:prstGeom>
          <a:solidFill>
            <a:srgbClr val="DCFCE7"/>
          </a:solidFill>
          <a:ln w="12700">
            <a:solidFill>
              <a:srgbClr val="86EFAC"/>
            </a:solidFill>
            <a:prstDash val="solid"/>
          </a:ln>
        </p:spPr>
      </p:sp>
      <p:sp>
        <p:nvSpPr>
          <p:cNvPr id="29" name="Text 27"/>
          <p:cNvSpPr/>
          <p:nvPr/>
        </p:nvSpPr>
        <p:spPr>
          <a:xfrm>
            <a:off x="13533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11</a:t>
            </a:r>
            <a:endParaRPr lang="en-US" sz="650" dirty="0"/>
          </a:p>
        </p:txBody>
      </p:sp>
      <p:sp>
        <p:nvSpPr>
          <p:cNvPr id="30" name="Shape 28"/>
          <p:cNvSpPr/>
          <p:nvPr/>
        </p:nvSpPr>
        <p:spPr>
          <a:xfrm>
            <a:off x="1810512" y="3657600"/>
            <a:ext cx="320040" cy="320040"/>
          </a:xfrm>
          <a:prstGeom prst="roundRect">
            <a:avLst/>
          </a:prstGeom>
          <a:solidFill>
            <a:srgbClr val="DCFCE7"/>
          </a:solidFill>
          <a:ln w="12700">
            <a:solidFill>
              <a:srgbClr val="86EFAC"/>
            </a:solidFill>
            <a:prstDash val="solid"/>
          </a:ln>
        </p:spPr>
      </p:sp>
      <p:sp>
        <p:nvSpPr>
          <p:cNvPr id="31" name="Text 29"/>
          <p:cNvSpPr/>
          <p:nvPr/>
        </p:nvSpPr>
        <p:spPr>
          <a:xfrm>
            <a:off x="18105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12</a:t>
            </a:r>
            <a:endParaRPr lang="en-US" sz="650" dirty="0"/>
          </a:p>
        </p:txBody>
      </p:sp>
      <p:sp>
        <p:nvSpPr>
          <p:cNvPr id="32" name="Shape 30"/>
          <p:cNvSpPr/>
          <p:nvPr/>
        </p:nvSpPr>
        <p:spPr>
          <a:xfrm>
            <a:off x="2267712" y="3657600"/>
            <a:ext cx="320040" cy="320040"/>
          </a:xfrm>
          <a:prstGeom prst="roundRect">
            <a:avLst/>
          </a:prstGeom>
          <a:solidFill>
            <a:srgbClr val="DCFCE7"/>
          </a:solidFill>
          <a:ln w="12700">
            <a:solidFill>
              <a:srgbClr val="86EFAC"/>
            </a:solidFill>
            <a:prstDash val="solid"/>
          </a:ln>
        </p:spPr>
      </p:sp>
      <p:sp>
        <p:nvSpPr>
          <p:cNvPr id="33" name="Text 31"/>
          <p:cNvSpPr/>
          <p:nvPr/>
        </p:nvSpPr>
        <p:spPr>
          <a:xfrm>
            <a:off x="22677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13</a:t>
            </a:r>
            <a:endParaRPr lang="en-US" sz="650" dirty="0"/>
          </a:p>
        </p:txBody>
      </p:sp>
      <p:sp>
        <p:nvSpPr>
          <p:cNvPr id="34" name="Shape 32"/>
          <p:cNvSpPr/>
          <p:nvPr/>
        </p:nvSpPr>
        <p:spPr>
          <a:xfrm>
            <a:off x="2724912" y="3657600"/>
            <a:ext cx="320040" cy="320040"/>
          </a:xfrm>
          <a:prstGeom prst="roundRect">
            <a:avLst/>
          </a:prstGeom>
          <a:solidFill>
            <a:srgbClr val="DCFCE7"/>
          </a:solidFill>
          <a:ln w="12700">
            <a:solidFill>
              <a:srgbClr val="86EFAC"/>
            </a:solidFill>
            <a:prstDash val="solid"/>
          </a:ln>
        </p:spPr>
      </p:sp>
      <p:sp>
        <p:nvSpPr>
          <p:cNvPr id="35" name="Text 33"/>
          <p:cNvSpPr/>
          <p:nvPr/>
        </p:nvSpPr>
        <p:spPr>
          <a:xfrm>
            <a:off x="27249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14</a:t>
            </a:r>
            <a:endParaRPr lang="en-US" sz="650" dirty="0"/>
          </a:p>
        </p:txBody>
      </p:sp>
      <p:sp>
        <p:nvSpPr>
          <p:cNvPr id="36" name="Shape 34"/>
          <p:cNvSpPr/>
          <p:nvPr/>
        </p:nvSpPr>
        <p:spPr>
          <a:xfrm>
            <a:off x="3182112" y="3657600"/>
            <a:ext cx="320040" cy="320040"/>
          </a:xfrm>
          <a:prstGeom prst="roundRect">
            <a:avLst/>
          </a:prstGeom>
          <a:solidFill>
            <a:srgbClr val="DCFCE7"/>
          </a:solidFill>
          <a:ln w="12700">
            <a:solidFill>
              <a:srgbClr val="86EFAC"/>
            </a:solidFill>
            <a:prstDash val="solid"/>
          </a:ln>
        </p:spPr>
      </p:sp>
      <p:sp>
        <p:nvSpPr>
          <p:cNvPr id="37" name="Text 35"/>
          <p:cNvSpPr/>
          <p:nvPr/>
        </p:nvSpPr>
        <p:spPr>
          <a:xfrm>
            <a:off x="31821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15</a:t>
            </a:r>
            <a:endParaRPr lang="en-US" sz="650" dirty="0"/>
          </a:p>
        </p:txBody>
      </p:sp>
      <p:sp>
        <p:nvSpPr>
          <p:cNvPr id="38" name="Shape 36"/>
          <p:cNvSpPr/>
          <p:nvPr/>
        </p:nvSpPr>
        <p:spPr>
          <a:xfrm>
            <a:off x="3639312" y="3657600"/>
            <a:ext cx="320040" cy="320040"/>
          </a:xfrm>
          <a:prstGeom prst="roundRect">
            <a:avLst/>
          </a:prstGeom>
          <a:solidFill>
            <a:srgbClr val="DCFCE7"/>
          </a:solidFill>
          <a:ln w="12700">
            <a:solidFill>
              <a:srgbClr val="86EFAC"/>
            </a:solidFill>
            <a:prstDash val="solid"/>
          </a:ln>
        </p:spPr>
      </p:sp>
      <p:sp>
        <p:nvSpPr>
          <p:cNvPr id="39" name="Text 37"/>
          <p:cNvSpPr/>
          <p:nvPr/>
        </p:nvSpPr>
        <p:spPr>
          <a:xfrm>
            <a:off x="36393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16</a:t>
            </a:r>
            <a:endParaRPr lang="en-US" sz="650" dirty="0"/>
          </a:p>
        </p:txBody>
      </p:sp>
      <p:sp>
        <p:nvSpPr>
          <p:cNvPr id="40" name="Shape 38"/>
          <p:cNvSpPr/>
          <p:nvPr/>
        </p:nvSpPr>
        <p:spPr>
          <a:xfrm>
            <a:off x="4096512" y="3657600"/>
            <a:ext cx="320040" cy="320040"/>
          </a:xfrm>
          <a:prstGeom prst="roundRect">
            <a:avLst/>
          </a:prstGeom>
          <a:solidFill>
            <a:srgbClr val="DCFCE7"/>
          </a:solidFill>
          <a:ln w="12700">
            <a:solidFill>
              <a:srgbClr val="86EFAC"/>
            </a:solidFill>
            <a:prstDash val="solid"/>
          </a:ln>
        </p:spPr>
      </p:sp>
      <p:sp>
        <p:nvSpPr>
          <p:cNvPr id="41" name="Text 39"/>
          <p:cNvSpPr/>
          <p:nvPr/>
        </p:nvSpPr>
        <p:spPr>
          <a:xfrm>
            <a:off x="40965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17</a:t>
            </a:r>
            <a:endParaRPr lang="en-US" sz="650" dirty="0"/>
          </a:p>
        </p:txBody>
      </p:sp>
      <p:sp>
        <p:nvSpPr>
          <p:cNvPr id="42" name="Shape 40"/>
          <p:cNvSpPr/>
          <p:nvPr/>
        </p:nvSpPr>
        <p:spPr>
          <a:xfrm>
            <a:off x="4553712" y="3657600"/>
            <a:ext cx="320040" cy="320040"/>
          </a:xfrm>
          <a:prstGeom prst="roundRect">
            <a:avLst/>
          </a:prstGeom>
          <a:solidFill>
            <a:srgbClr val="DCFCE7"/>
          </a:solidFill>
          <a:ln w="12700">
            <a:solidFill>
              <a:srgbClr val="86EFAC"/>
            </a:solidFill>
            <a:prstDash val="solid"/>
          </a:ln>
        </p:spPr>
      </p:sp>
      <p:sp>
        <p:nvSpPr>
          <p:cNvPr id="43" name="Text 41"/>
          <p:cNvSpPr/>
          <p:nvPr/>
        </p:nvSpPr>
        <p:spPr>
          <a:xfrm>
            <a:off x="4553712" y="3739896"/>
            <a:ext cx="320040" cy="91440"/>
          </a:xfrm>
          <a:prstGeom prst="rect">
            <a:avLst/>
          </a:prstGeom>
          <a:noFill/>
          <a:ln/>
        </p:spPr>
        <p:txBody>
          <a:bodyPr wrap="square" lIns="0" tIns="0" rIns="0" bIns="0" rtlCol="0" anchor="ctr"/>
          <a:lstStyle/>
          <a:p>
            <a:pPr algn="ctr" indent="0" marL="0">
              <a:buNone/>
            </a:pPr>
            <a:r>
              <a:rPr lang="en-US" sz="650" b="1" dirty="0">
                <a:solidFill>
                  <a:srgbClr val="166534"/>
                </a:solidFill>
              </a:rPr>
              <a:t>18</a:t>
            </a:r>
            <a:endParaRPr lang="en-US" sz="650" dirty="0"/>
          </a:p>
        </p:txBody>
      </p:sp>
      <p:sp>
        <p:nvSpPr>
          <p:cNvPr id="44" name="Text 42"/>
          <p:cNvSpPr/>
          <p:nvPr/>
        </p:nvSpPr>
        <p:spPr>
          <a:xfrm>
            <a:off x="868680" y="4434840"/>
            <a:ext cx="3108960" cy="228600"/>
          </a:xfrm>
          <a:prstGeom prst="rect">
            <a:avLst/>
          </a:prstGeom>
          <a:noFill/>
          <a:ln/>
        </p:spPr>
        <p:txBody>
          <a:bodyPr wrap="square" lIns="0" tIns="0" rIns="0" bIns="0" rtlCol="0" anchor="ctr"/>
          <a:lstStyle/>
          <a:p>
            <a:pPr indent="0" marL="0">
              <a:buNone/>
            </a:pPr>
            <a:r>
              <a:rPr lang="en-US" sz="1100" b="1" dirty="0">
                <a:solidFill>
                  <a:srgbClr val="475569"/>
                </a:solidFill>
              </a:rPr>
              <a:t>Every batch: 5 / 5 complete</a:t>
            </a:r>
            <a:endParaRPr lang="en-US" sz="1100" dirty="0"/>
          </a:p>
        </p:txBody>
      </p:sp>
      <p:sp>
        <p:nvSpPr>
          <p:cNvPr id="45" name="Shape 43"/>
          <p:cNvSpPr/>
          <p:nvPr/>
        </p:nvSpPr>
        <p:spPr>
          <a:xfrm>
            <a:off x="6080760" y="1417320"/>
            <a:ext cx="5440680" cy="4480560"/>
          </a:xfrm>
          <a:prstGeom prst="roundRect">
            <a:avLst>
              <a:gd name="adj" fmla="val 1633"/>
            </a:avLst>
          </a:prstGeom>
          <a:solidFill>
            <a:srgbClr val="FFFFFF"/>
          </a:solidFill>
          <a:ln w="10160">
            <a:solidFill>
              <a:srgbClr val="D8DEE8"/>
            </a:solidFill>
            <a:prstDash val="solid"/>
          </a:ln>
        </p:spPr>
      </p:sp>
      <p:sp>
        <p:nvSpPr>
          <p:cNvPr id="46" name="Text 44"/>
          <p:cNvSpPr/>
          <p:nvPr/>
        </p:nvSpPr>
        <p:spPr>
          <a:xfrm>
            <a:off x="6355080" y="1664208"/>
            <a:ext cx="1920240" cy="228600"/>
          </a:xfrm>
          <a:prstGeom prst="rect">
            <a:avLst/>
          </a:prstGeom>
          <a:noFill/>
          <a:ln/>
        </p:spPr>
        <p:txBody>
          <a:bodyPr wrap="square" lIns="0" tIns="0" rIns="0" bIns="0" rtlCol="0" anchor="ctr"/>
          <a:lstStyle/>
          <a:p>
            <a:pPr indent="0" marL="0">
              <a:buNone/>
            </a:pPr>
            <a:r>
              <a:rPr lang="en-US" sz="1100" b="1" spc="100" kern="0" dirty="0">
                <a:solidFill>
                  <a:srgbClr val="DC2626"/>
                </a:solidFill>
              </a:rPr>
              <a:t>DATA PLANE</a:t>
            </a:r>
            <a:endParaRPr lang="en-US" sz="1100" dirty="0"/>
          </a:p>
        </p:txBody>
      </p:sp>
      <p:sp>
        <p:nvSpPr>
          <p:cNvPr id="47" name="Text 45"/>
          <p:cNvSpPr/>
          <p:nvPr/>
        </p:nvSpPr>
        <p:spPr>
          <a:xfrm>
            <a:off x="6355080" y="2057400"/>
            <a:ext cx="2560320" cy="566928"/>
          </a:xfrm>
          <a:prstGeom prst="rect">
            <a:avLst/>
          </a:prstGeom>
          <a:noFill/>
          <a:ln/>
        </p:spPr>
        <p:txBody>
          <a:bodyPr wrap="square" lIns="0" tIns="0" rIns="0" bIns="0" rtlCol="0" anchor="ctr"/>
          <a:lstStyle/>
          <a:p>
            <a:pPr indent="0" marL="0">
              <a:buNone/>
            </a:pPr>
            <a:r>
              <a:rPr lang="en-US" sz="3800" b="1" dirty="0">
                <a:solidFill>
                  <a:srgbClr val="DC2626"/>
                </a:solidFill>
              </a:rPr>
              <a:t>0 / 90</a:t>
            </a:r>
            <a:endParaRPr lang="en-US" sz="3800" dirty="0"/>
          </a:p>
        </p:txBody>
      </p:sp>
      <p:sp>
        <p:nvSpPr>
          <p:cNvPr id="48" name="Text 46"/>
          <p:cNvSpPr/>
          <p:nvPr/>
        </p:nvSpPr>
        <p:spPr>
          <a:xfrm>
            <a:off x="6355080" y="2615184"/>
            <a:ext cx="3657600" cy="256032"/>
          </a:xfrm>
          <a:prstGeom prst="rect">
            <a:avLst/>
          </a:prstGeom>
          <a:noFill/>
          <a:ln/>
        </p:spPr>
        <p:txBody>
          <a:bodyPr wrap="square" lIns="0" tIns="0" rIns="0" bIns="0" rtlCol="0" anchor="ctr"/>
          <a:lstStyle/>
          <a:p>
            <a:pPr indent="0" marL="0">
              <a:buNone/>
            </a:pPr>
            <a:r>
              <a:rPr lang="en-US" sz="1200" dirty="0">
                <a:solidFill>
                  <a:srgbClr val="475569"/>
                </a:solidFill>
              </a:rPr>
              <a:t>cases have usable evaluation fields</a:t>
            </a:r>
            <a:endParaRPr lang="en-US" sz="1200" dirty="0"/>
          </a:p>
        </p:txBody>
      </p:sp>
      <p:sp>
        <p:nvSpPr>
          <p:cNvPr id="49" name="Shape 47"/>
          <p:cNvSpPr/>
          <p:nvPr/>
        </p:nvSpPr>
        <p:spPr>
          <a:xfrm>
            <a:off x="6382512" y="3200400"/>
            <a:ext cx="1325880" cy="274320"/>
          </a:xfrm>
          <a:prstGeom prst="roundRect">
            <a:avLst/>
          </a:prstGeom>
          <a:solidFill>
            <a:srgbClr val="FEE2E2"/>
          </a:solidFill>
          <a:ln w="12700">
            <a:solidFill>
              <a:srgbClr val="FEE2E2"/>
            </a:solidFill>
            <a:prstDash val="solid"/>
          </a:ln>
        </p:spPr>
      </p:sp>
      <p:sp>
        <p:nvSpPr>
          <p:cNvPr id="50" name="Text 48"/>
          <p:cNvSpPr/>
          <p:nvPr/>
        </p:nvSpPr>
        <p:spPr>
          <a:xfrm>
            <a:off x="6428232" y="3250692"/>
            <a:ext cx="1234440" cy="137160"/>
          </a:xfrm>
          <a:prstGeom prst="rect">
            <a:avLst/>
          </a:prstGeom>
          <a:noFill/>
          <a:ln/>
        </p:spPr>
        <p:txBody>
          <a:bodyPr wrap="square" lIns="0" tIns="0" rIns="0" bIns="0" rtlCol="0" anchor="ctr"/>
          <a:lstStyle/>
          <a:p>
            <a:pPr algn="ctr" indent="0" marL="0">
              <a:buNone/>
            </a:pPr>
            <a:r>
              <a:rPr lang="en-US" sz="800" b="1" dirty="0">
                <a:solidFill>
                  <a:srgbClr val="991B1B"/>
                </a:solidFill>
              </a:rPr>
              <a:t>Status</a:t>
            </a:r>
            <a:endParaRPr lang="en-US" sz="800" dirty="0"/>
          </a:p>
        </p:txBody>
      </p:sp>
      <p:sp>
        <p:nvSpPr>
          <p:cNvPr id="51" name="Shape 49"/>
          <p:cNvSpPr/>
          <p:nvPr/>
        </p:nvSpPr>
        <p:spPr>
          <a:xfrm>
            <a:off x="7936992" y="3200400"/>
            <a:ext cx="1325880" cy="274320"/>
          </a:xfrm>
          <a:prstGeom prst="roundRect">
            <a:avLst/>
          </a:prstGeom>
          <a:solidFill>
            <a:srgbClr val="FEE2E2"/>
          </a:solidFill>
          <a:ln w="12700">
            <a:solidFill>
              <a:srgbClr val="FEE2E2"/>
            </a:solidFill>
            <a:prstDash val="solid"/>
          </a:ln>
        </p:spPr>
      </p:sp>
      <p:sp>
        <p:nvSpPr>
          <p:cNvPr id="52" name="Text 50"/>
          <p:cNvSpPr/>
          <p:nvPr/>
        </p:nvSpPr>
        <p:spPr>
          <a:xfrm>
            <a:off x="7982712" y="3250692"/>
            <a:ext cx="1234440" cy="137160"/>
          </a:xfrm>
          <a:prstGeom prst="rect">
            <a:avLst/>
          </a:prstGeom>
          <a:noFill/>
          <a:ln/>
        </p:spPr>
        <p:txBody>
          <a:bodyPr wrap="square" lIns="0" tIns="0" rIns="0" bIns="0" rtlCol="0" anchor="ctr"/>
          <a:lstStyle/>
          <a:p>
            <a:pPr algn="ctr" indent="0" marL="0">
              <a:buNone/>
            </a:pPr>
            <a:r>
              <a:rPr lang="en-US" sz="800" b="1" dirty="0">
                <a:solidFill>
                  <a:srgbClr val="991B1B"/>
                </a:solidFill>
              </a:rPr>
              <a:t>Category</a:t>
            </a:r>
            <a:endParaRPr lang="en-US" sz="800" dirty="0"/>
          </a:p>
        </p:txBody>
      </p:sp>
      <p:sp>
        <p:nvSpPr>
          <p:cNvPr id="53" name="Shape 51"/>
          <p:cNvSpPr/>
          <p:nvPr/>
        </p:nvSpPr>
        <p:spPr>
          <a:xfrm>
            <a:off x="9491472" y="3200400"/>
            <a:ext cx="1325880" cy="274320"/>
          </a:xfrm>
          <a:prstGeom prst="roundRect">
            <a:avLst/>
          </a:prstGeom>
          <a:solidFill>
            <a:srgbClr val="FEE2E2"/>
          </a:solidFill>
          <a:ln w="12700">
            <a:solidFill>
              <a:srgbClr val="FEE2E2"/>
            </a:solidFill>
            <a:prstDash val="solid"/>
          </a:ln>
        </p:spPr>
      </p:sp>
      <p:sp>
        <p:nvSpPr>
          <p:cNvPr id="54" name="Text 52"/>
          <p:cNvSpPr/>
          <p:nvPr/>
        </p:nvSpPr>
        <p:spPr>
          <a:xfrm>
            <a:off x="9537192" y="3250692"/>
            <a:ext cx="1234440" cy="137160"/>
          </a:xfrm>
          <a:prstGeom prst="rect">
            <a:avLst/>
          </a:prstGeom>
          <a:noFill/>
          <a:ln/>
        </p:spPr>
        <p:txBody>
          <a:bodyPr wrap="square" lIns="0" tIns="0" rIns="0" bIns="0" rtlCol="0" anchor="ctr"/>
          <a:lstStyle/>
          <a:p>
            <a:pPr algn="ctr" indent="0" marL="0">
              <a:buNone/>
            </a:pPr>
            <a:r>
              <a:rPr lang="en-US" sz="800" b="1" dirty="0">
                <a:solidFill>
                  <a:srgbClr val="991B1B"/>
                </a:solidFill>
              </a:rPr>
              <a:t>Score</a:t>
            </a:r>
            <a:endParaRPr lang="en-US" sz="800" dirty="0"/>
          </a:p>
        </p:txBody>
      </p:sp>
      <p:sp>
        <p:nvSpPr>
          <p:cNvPr id="55" name="Shape 53"/>
          <p:cNvSpPr/>
          <p:nvPr/>
        </p:nvSpPr>
        <p:spPr>
          <a:xfrm>
            <a:off x="6382512" y="3767328"/>
            <a:ext cx="1325880" cy="274320"/>
          </a:xfrm>
          <a:prstGeom prst="roundRect">
            <a:avLst/>
          </a:prstGeom>
          <a:solidFill>
            <a:srgbClr val="FEE2E2"/>
          </a:solidFill>
          <a:ln w="12700">
            <a:solidFill>
              <a:srgbClr val="FEE2E2"/>
            </a:solidFill>
            <a:prstDash val="solid"/>
          </a:ln>
        </p:spPr>
      </p:sp>
      <p:sp>
        <p:nvSpPr>
          <p:cNvPr id="56" name="Text 54"/>
          <p:cNvSpPr/>
          <p:nvPr/>
        </p:nvSpPr>
        <p:spPr>
          <a:xfrm>
            <a:off x="6428232" y="3817620"/>
            <a:ext cx="1234440" cy="137160"/>
          </a:xfrm>
          <a:prstGeom prst="rect">
            <a:avLst/>
          </a:prstGeom>
          <a:noFill/>
          <a:ln/>
        </p:spPr>
        <p:txBody>
          <a:bodyPr wrap="square" lIns="0" tIns="0" rIns="0" bIns="0" rtlCol="0" anchor="ctr"/>
          <a:lstStyle/>
          <a:p>
            <a:pPr algn="ctr" indent="0" marL="0">
              <a:buNone/>
            </a:pPr>
            <a:r>
              <a:rPr lang="en-US" sz="800" b="1" dirty="0">
                <a:solidFill>
                  <a:srgbClr val="991B1B"/>
                </a:solidFill>
              </a:rPr>
              <a:t>Risk</a:t>
            </a:r>
            <a:endParaRPr lang="en-US" sz="800" dirty="0"/>
          </a:p>
        </p:txBody>
      </p:sp>
      <p:sp>
        <p:nvSpPr>
          <p:cNvPr id="57" name="Shape 55"/>
          <p:cNvSpPr/>
          <p:nvPr/>
        </p:nvSpPr>
        <p:spPr>
          <a:xfrm>
            <a:off x="7936992" y="3767328"/>
            <a:ext cx="1325880" cy="274320"/>
          </a:xfrm>
          <a:prstGeom prst="roundRect">
            <a:avLst/>
          </a:prstGeom>
          <a:solidFill>
            <a:srgbClr val="FEE2E2"/>
          </a:solidFill>
          <a:ln w="12700">
            <a:solidFill>
              <a:srgbClr val="FEE2E2"/>
            </a:solidFill>
            <a:prstDash val="solid"/>
          </a:ln>
        </p:spPr>
      </p:sp>
      <p:sp>
        <p:nvSpPr>
          <p:cNvPr id="58" name="Text 56"/>
          <p:cNvSpPr/>
          <p:nvPr/>
        </p:nvSpPr>
        <p:spPr>
          <a:xfrm>
            <a:off x="7982712" y="3817620"/>
            <a:ext cx="1234440" cy="137160"/>
          </a:xfrm>
          <a:prstGeom prst="rect">
            <a:avLst/>
          </a:prstGeom>
          <a:noFill/>
          <a:ln/>
        </p:spPr>
        <p:txBody>
          <a:bodyPr wrap="square" lIns="0" tIns="0" rIns="0" bIns="0" rtlCol="0" anchor="ctr"/>
          <a:lstStyle/>
          <a:p>
            <a:pPr algn="ctr" indent="0" marL="0">
              <a:buNone/>
            </a:pPr>
            <a:r>
              <a:rPr lang="en-US" sz="800" b="1" dirty="0">
                <a:solidFill>
                  <a:srgbClr val="991B1B"/>
                </a:solidFill>
              </a:rPr>
              <a:t>Expectation</a:t>
            </a:r>
            <a:endParaRPr lang="en-US" sz="800" dirty="0"/>
          </a:p>
        </p:txBody>
      </p:sp>
      <p:sp>
        <p:nvSpPr>
          <p:cNvPr id="59" name="Text 57"/>
          <p:cNvSpPr/>
          <p:nvPr/>
        </p:nvSpPr>
        <p:spPr>
          <a:xfrm>
            <a:off x="6355080" y="4526280"/>
            <a:ext cx="4389120" cy="320040"/>
          </a:xfrm>
          <a:prstGeom prst="rect">
            <a:avLst/>
          </a:prstGeom>
          <a:noFill/>
          <a:ln/>
        </p:spPr>
        <p:txBody>
          <a:bodyPr wrap="square" lIns="0" tIns="0" rIns="0" bIns="0" rtlCol="0" anchor="ctr"/>
          <a:lstStyle/>
          <a:p>
            <a:pPr indent="0" marL="0">
              <a:buNone/>
            </a:pPr>
            <a:r>
              <a:rPr lang="en-US" sz="1100" b="1" dirty="0">
                <a:solidFill>
                  <a:srgbClr val="475569"/>
                </a:solidFill>
              </a:rPr>
              <a:t>All appear blank or N/A in the consolidated report.</a:t>
            </a:r>
            <a:endParaRPr lang="en-US" sz="1100" dirty="0"/>
          </a:p>
        </p:txBody>
      </p:sp>
      <p:sp>
        <p:nvSpPr>
          <p:cNvPr id="60" name="Text 58"/>
          <p:cNvSpPr/>
          <p:nvPr/>
        </p:nvSpPr>
        <p:spPr>
          <a:xfrm>
            <a:off x="6355080" y="4983480"/>
            <a:ext cx="4572000" cy="502920"/>
          </a:xfrm>
          <a:prstGeom prst="rect">
            <a:avLst/>
          </a:prstGeom>
          <a:noFill/>
          <a:ln/>
        </p:spPr>
        <p:txBody>
          <a:bodyPr wrap="square" lIns="0" tIns="0" rIns="0" bIns="0" rtlCol="0" anchor="ctr">
            <a:normAutofit/>
          </a:bodyPr>
          <a:lstStyle/>
          <a:p>
            <a:pPr indent="0" marL="0">
              <a:buNone/>
            </a:pPr>
            <a:r>
              <a:rPr lang="en-US" sz="1150" b="1" dirty="0">
                <a:solidFill>
                  <a:srgbClr val="0F172A"/>
                </a:solidFill>
              </a:rPr>
              <a:t>Inference: the failure boundary is likely between asynchronous batch completion and normalized result materialization/merge.</a:t>
            </a:r>
            <a:endParaRPr lang="en-US" sz="115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Reference execution architecture and observed failure boundary</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Separate submission, provider execution, result normalization, persistence and reporting into independently verifiable stages.</a:t>
            </a:r>
            <a:endParaRPr lang="en-US" sz="1150" dirty="0"/>
          </a:p>
        </p:txBody>
      </p:sp>
      <p:sp>
        <p:nvSpPr>
          <p:cNvPr id="4" name="Shape 2"/>
          <p:cNvSpPr/>
          <p:nvPr/>
        </p:nvSpPr>
        <p:spPr>
          <a:xfrm>
            <a:off x="594360" y="2057400"/>
            <a:ext cx="1325880" cy="914400"/>
          </a:xfrm>
          <a:prstGeom prst="roundRect">
            <a:avLst>
              <a:gd name="adj" fmla="val 8000"/>
            </a:avLst>
          </a:prstGeom>
          <a:solidFill>
            <a:srgbClr val="FFFFFF"/>
          </a:solidFill>
          <a:ln w="10160">
            <a:solidFill>
              <a:srgbClr val="2563EB"/>
            </a:solidFill>
            <a:prstDash val="solid"/>
          </a:ln>
        </p:spPr>
      </p:sp>
      <p:sp>
        <p:nvSpPr>
          <p:cNvPr id="5" name="Text 3"/>
          <p:cNvSpPr/>
          <p:nvPr/>
        </p:nvSpPr>
        <p:spPr>
          <a:xfrm>
            <a:off x="68580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CLI</a:t>
            </a:r>
            <a:endParaRPr lang="en-US" sz="1100" dirty="0"/>
          </a:p>
          <a:p>
            <a:pPr algn="ctr" indent="0" marL="0">
              <a:buNone/>
            </a:pPr>
            <a:r>
              <a:rPr lang="en-US" sz="1100" b="1" dirty="0">
                <a:solidFill>
                  <a:srgbClr val="0F172A"/>
                </a:solidFill>
              </a:rPr>
              <a:t>Benchmark</a:t>
            </a:r>
            <a:endParaRPr lang="en-US" sz="1100" dirty="0"/>
          </a:p>
        </p:txBody>
      </p:sp>
      <p:sp>
        <p:nvSpPr>
          <p:cNvPr id="6" name="Shape 4"/>
          <p:cNvSpPr/>
          <p:nvPr/>
        </p:nvSpPr>
        <p:spPr>
          <a:xfrm>
            <a:off x="2331720" y="2057400"/>
            <a:ext cx="1325880" cy="914400"/>
          </a:xfrm>
          <a:prstGeom prst="roundRect">
            <a:avLst>
              <a:gd name="adj" fmla="val 8000"/>
            </a:avLst>
          </a:prstGeom>
          <a:solidFill>
            <a:srgbClr val="FFFFFF"/>
          </a:solidFill>
          <a:ln w="10160">
            <a:solidFill>
              <a:srgbClr val="2563EB"/>
            </a:solidFill>
            <a:prstDash val="solid"/>
          </a:ln>
        </p:spPr>
      </p:sp>
      <p:sp>
        <p:nvSpPr>
          <p:cNvPr id="7" name="Text 5"/>
          <p:cNvSpPr/>
          <p:nvPr/>
        </p:nvSpPr>
        <p:spPr>
          <a:xfrm>
            <a:off x="242316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Batch API</a:t>
            </a:r>
            <a:endParaRPr lang="en-US" sz="1100" dirty="0"/>
          </a:p>
          <a:p>
            <a:pPr algn="ctr" indent="0" marL="0">
              <a:buNone/>
            </a:pPr>
            <a:r>
              <a:rPr lang="en-US" sz="1100" b="1" dirty="0">
                <a:solidFill>
                  <a:srgbClr val="0F172A"/>
                </a:solidFill>
              </a:rPr>
              <a:t>≤25 cases</a:t>
            </a:r>
            <a:endParaRPr lang="en-US" sz="1100" dirty="0"/>
          </a:p>
        </p:txBody>
      </p:sp>
      <p:sp>
        <p:nvSpPr>
          <p:cNvPr id="8" name="Shape 6"/>
          <p:cNvSpPr/>
          <p:nvPr/>
        </p:nvSpPr>
        <p:spPr>
          <a:xfrm>
            <a:off x="4069080" y="2057400"/>
            <a:ext cx="1325880" cy="914400"/>
          </a:xfrm>
          <a:prstGeom prst="roundRect">
            <a:avLst>
              <a:gd name="adj" fmla="val 8000"/>
            </a:avLst>
          </a:prstGeom>
          <a:solidFill>
            <a:srgbClr val="FFFFFF"/>
          </a:solidFill>
          <a:ln w="10160">
            <a:solidFill>
              <a:srgbClr val="0891B2"/>
            </a:solidFill>
            <a:prstDash val="solid"/>
          </a:ln>
        </p:spPr>
      </p:sp>
      <p:sp>
        <p:nvSpPr>
          <p:cNvPr id="9" name="Text 7"/>
          <p:cNvSpPr/>
          <p:nvPr/>
        </p:nvSpPr>
        <p:spPr>
          <a:xfrm>
            <a:off x="416052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Async Job</a:t>
            </a:r>
            <a:endParaRPr lang="en-US" sz="1100" dirty="0"/>
          </a:p>
          <a:p>
            <a:pPr algn="ctr" indent="0" marL="0">
              <a:buNone/>
            </a:pPr>
            <a:r>
              <a:rPr lang="en-US" sz="1100" b="1" dirty="0">
                <a:solidFill>
                  <a:srgbClr val="0F172A"/>
                </a:solidFill>
              </a:rPr>
              <a:t>Store</a:t>
            </a:r>
            <a:endParaRPr lang="en-US" sz="1100" dirty="0"/>
          </a:p>
        </p:txBody>
      </p:sp>
      <p:sp>
        <p:nvSpPr>
          <p:cNvPr id="10" name="Shape 8"/>
          <p:cNvSpPr/>
          <p:nvPr/>
        </p:nvSpPr>
        <p:spPr>
          <a:xfrm>
            <a:off x="5806440" y="2057400"/>
            <a:ext cx="1325880" cy="914400"/>
          </a:xfrm>
          <a:prstGeom prst="roundRect">
            <a:avLst>
              <a:gd name="adj" fmla="val 8000"/>
            </a:avLst>
          </a:prstGeom>
          <a:solidFill>
            <a:srgbClr val="FFFFFF"/>
          </a:solidFill>
          <a:ln w="10160">
            <a:solidFill>
              <a:srgbClr val="0891B2"/>
            </a:solidFill>
            <a:prstDash val="solid"/>
          </a:ln>
        </p:spPr>
      </p:sp>
      <p:sp>
        <p:nvSpPr>
          <p:cNvPr id="11" name="Text 9"/>
          <p:cNvSpPr/>
          <p:nvPr/>
        </p:nvSpPr>
        <p:spPr>
          <a:xfrm>
            <a:off x="589788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Gemini</a:t>
            </a:r>
            <a:endParaRPr lang="en-US" sz="1100" dirty="0"/>
          </a:p>
          <a:p>
            <a:pPr algn="ctr" indent="0" marL="0">
              <a:buNone/>
            </a:pPr>
            <a:r>
              <a:rPr lang="en-US" sz="1100" b="1" dirty="0">
                <a:solidFill>
                  <a:srgbClr val="0F172A"/>
                </a:solidFill>
              </a:rPr>
              <a:t>Judge</a:t>
            </a:r>
            <a:endParaRPr lang="en-US" sz="1100" dirty="0"/>
          </a:p>
        </p:txBody>
      </p:sp>
      <p:sp>
        <p:nvSpPr>
          <p:cNvPr id="12" name="Shape 10"/>
          <p:cNvSpPr/>
          <p:nvPr/>
        </p:nvSpPr>
        <p:spPr>
          <a:xfrm>
            <a:off x="7543800" y="2057400"/>
            <a:ext cx="1325880" cy="914400"/>
          </a:xfrm>
          <a:prstGeom prst="roundRect">
            <a:avLst>
              <a:gd name="adj" fmla="val 8000"/>
            </a:avLst>
          </a:prstGeom>
          <a:solidFill>
            <a:srgbClr val="FFFFFF"/>
          </a:solidFill>
          <a:ln w="10160">
            <a:solidFill>
              <a:srgbClr val="DC2626"/>
            </a:solidFill>
            <a:prstDash val="solid"/>
          </a:ln>
        </p:spPr>
      </p:sp>
      <p:sp>
        <p:nvSpPr>
          <p:cNvPr id="13" name="Text 11"/>
          <p:cNvSpPr/>
          <p:nvPr/>
        </p:nvSpPr>
        <p:spPr>
          <a:xfrm>
            <a:off x="763524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Normalizer</a:t>
            </a:r>
            <a:endParaRPr lang="en-US" sz="1100" dirty="0"/>
          </a:p>
          <a:p>
            <a:pPr algn="ctr" indent="0" marL="0">
              <a:buNone/>
            </a:pPr>
            <a:r>
              <a:rPr lang="en-US" sz="1100" b="1" dirty="0">
                <a:solidFill>
                  <a:srgbClr val="0F172A"/>
                </a:solidFill>
              </a:rPr>
              <a:t>+ Validator</a:t>
            </a:r>
            <a:endParaRPr lang="en-US" sz="1100" dirty="0"/>
          </a:p>
        </p:txBody>
      </p:sp>
      <p:sp>
        <p:nvSpPr>
          <p:cNvPr id="14" name="Shape 12"/>
          <p:cNvSpPr/>
          <p:nvPr/>
        </p:nvSpPr>
        <p:spPr>
          <a:xfrm>
            <a:off x="9281160" y="2057400"/>
            <a:ext cx="1325880" cy="914400"/>
          </a:xfrm>
          <a:prstGeom prst="roundRect">
            <a:avLst>
              <a:gd name="adj" fmla="val 8000"/>
            </a:avLst>
          </a:prstGeom>
          <a:solidFill>
            <a:srgbClr val="FFFFFF"/>
          </a:solidFill>
          <a:ln w="10160">
            <a:solidFill>
              <a:srgbClr val="D97706"/>
            </a:solidFill>
            <a:prstDash val="solid"/>
          </a:ln>
        </p:spPr>
      </p:sp>
      <p:sp>
        <p:nvSpPr>
          <p:cNvPr id="15" name="Text 13"/>
          <p:cNvSpPr/>
          <p:nvPr/>
        </p:nvSpPr>
        <p:spPr>
          <a:xfrm>
            <a:off x="9372600" y="2258568"/>
            <a:ext cx="1143000" cy="438912"/>
          </a:xfrm>
          <a:prstGeom prst="rect">
            <a:avLst/>
          </a:prstGeom>
          <a:noFill/>
          <a:ln/>
        </p:spPr>
        <p:txBody>
          <a:bodyPr wrap="square" lIns="0" tIns="0" rIns="0" bIns="0" rtlCol="0" anchor="ctr"/>
          <a:lstStyle/>
          <a:p>
            <a:pPr algn="ctr" indent="0" marL="0">
              <a:buNone/>
            </a:pPr>
            <a:r>
              <a:rPr lang="en-US" sz="1100" b="1" dirty="0">
                <a:solidFill>
                  <a:srgbClr val="0F172A"/>
                </a:solidFill>
              </a:rPr>
              <a:t>Result Store</a:t>
            </a:r>
            <a:endParaRPr lang="en-US" sz="1100" dirty="0"/>
          </a:p>
          <a:p>
            <a:pPr algn="ctr" indent="0" marL="0">
              <a:buNone/>
            </a:pPr>
            <a:r>
              <a:rPr lang="en-US" sz="1100" b="1" dirty="0">
                <a:solidFill>
                  <a:srgbClr val="0F172A"/>
                </a:solidFill>
              </a:rPr>
              <a:t>Case-level</a:t>
            </a:r>
            <a:endParaRPr lang="en-US" sz="1100" dirty="0"/>
          </a:p>
        </p:txBody>
      </p:sp>
      <p:sp>
        <p:nvSpPr>
          <p:cNvPr id="16" name="Shape 14"/>
          <p:cNvSpPr/>
          <p:nvPr/>
        </p:nvSpPr>
        <p:spPr>
          <a:xfrm>
            <a:off x="1938528" y="2514600"/>
            <a:ext cx="347472" cy="0"/>
          </a:xfrm>
          <a:prstGeom prst="line">
            <a:avLst/>
          </a:prstGeom>
          <a:noFill/>
          <a:ln w="22860">
            <a:solidFill>
              <a:srgbClr val="2563EB"/>
            </a:solidFill>
            <a:prstDash val="solid"/>
            <a:headEnd type="none"/>
            <a:tailEnd type="triangle"/>
          </a:ln>
        </p:spPr>
      </p:sp>
      <p:sp>
        <p:nvSpPr>
          <p:cNvPr id="17" name="Shape 15"/>
          <p:cNvSpPr/>
          <p:nvPr/>
        </p:nvSpPr>
        <p:spPr>
          <a:xfrm>
            <a:off x="3675888" y="2514600"/>
            <a:ext cx="347472" cy="0"/>
          </a:xfrm>
          <a:prstGeom prst="line">
            <a:avLst/>
          </a:prstGeom>
          <a:noFill/>
          <a:ln w="22860">
            <a:solidFill>
              <a:srgbClr val="2563EB"/>
            </a:solidFill>
            <a:prstDash val="solid"/>
            <a:headEnd type="none"/>
            <a:tailEnd type="triangle"/>
          </a:ln>
        </p:spPr>
      </p:sp>
      <p:sp>
        <p:nvSpPr>
          <p:cNvPr id="18" name="Shape 16"/>
          <p:cNvSpPr/>
          <p:nvPr/>
        </p:nvSpPr>
        <p:spPr>
          <a:xfrm>
            <a:off x="5413248" y="2514600"/>
            <a:ext cx="347472" cy="0"/>
          </a:xfrm>
          <a:prstGeom prst="line">
            <a:avLst/>
          </a:prstGeom>
          <a:noFill/>
          <a:ln w="22860">
            <a:solidFill>
              <a:srgbClr val="2563EB"/>
            </a:solidFill>
            <a:prstDash val="solid"/>
            <a:headEnd type="none"/>
            <a:tailEnd type="triangle"/>
          </a:ln>
        </p:spPr>
      </p:sp>
      <p:sp>
        <p:nvSpPr>
          <p:cNvPr id="19" name="Shape 17"/>
          <p:cNvSpPr/>
          <p:nvPr/>
        </p:nvSpPr>
        <p:spPr>
          <a:xfrm>
            <a:off x="7150608" y="2514600"/>
            <a:ext cx="347472" cy="0"/>
          </a:xfrm>
          <a:prstGeom prst="line">
            <a:avLst/>
          </a:prstGeom>
          <a:noFill/>
          <a:ln w="22860">
            <a:solidFill>
              <a:srgbClr val="DC2626"/>
            </a:solidFill>
            <a:prstDash val="solid"/>
            <a:headEnd type="none"/>
            <a:tailEnd type="triangle"/>
          </a:ln>
        </p:spPr>
      </p:sp>
      <p:sp>
        <p:nvSpPr>
          <p:cNvPr id="20" name="Shape 18"/>
          <p:cNvSpPr/>
          <p:nvPr/>
        </p:nvSpPr>
        <p:spPr>
          <a:xfrm>
            <a:off x="8887968" y="2514600"/>
            <a:ext cx="347472" cy="0"/>
          </a:xfrm>
          <a:prstGeom prst="line">
            <a:avLst/>
          </a:prstGeom>
          <a:noFill/>
          <a:ln w="22860">
            <a:solidFill>
              <a:srgbClr val="2563EB"/>
            </a:solidFill>
            <a:prstDash val="solid"/>
            <a:headEnd type="none"/>
            <a:tailEnd type="triangle"/>
          </a:ln>
        </p:spPr>
      </p:sp>
      <p:sp>
        <p:nvSpPr>
          <p:cNvPr id="21" name="Shape 19"/>
          <p:cNvSpPr/>
          <p:nvPr/>
        </p:nvSpPr>
        <p:spPr>
          <a:xfrm>
            <a:off x="4069080" y="3703320"/>
            <a:ext cx="3063240" cy="1051560"/>
          </a:xfrm>
          <a:prstGeom prst="roundRect">
            <a:avLst>
              <a:gd name="adj" fmla="val 6957"/>
            </a:avLst>
          </a:prstGeom>
          <a:solidFill>
            <a:srgbClr val="EFF6FF"/>
          </a:solidFill>
          <a:ln w="10160">
            <a:solidFill>
              <a:srgbClr val="BFDBFE"/>
            </a:solidFill>
            <a:prstDash val="solid"/>
          </a:ln>
        </p:spPr>
      </p:sp>
      <p:sp>
        <p:nvSpPr>
          <p:cNvPr id="22" name="Text 20"/>
          <p:cNvSpPr/>
          <p:nvPr/>
        </p:nvSpPr>
        <p:spPr>
          <a:xfrm>
            <a:off x="4315968" y="3886200"/>
            <a:ext cx="1371600" cy="182880"/>
          </a:xfrm>
          <a:prstGeom prst="rect">
            <a:avLst/>
          </a:prstGeom>
          <a:noFill/>
          <a:ln/>
        </p:spPr>
        <p:txBody>
          <a:bodyPr wrap="square" lIns="0" tIns="0" rIns="0" bIns="0" rtlCol="0" anchor="ctr"/>
          <a:lstStyle/>
          <a:p>
            <a:pPr indent="0" marL="0">
              <a:buNone/>
            </a:pPr>
            <a:r>
              <a:rPr lang="en-US" sz="900" b="1" dirty="0">
                <a:solidFill>
                  <a:srgbClr val="2563EB"/>
                </a:solidFill>
              </a:rPr>
              <a:t>CONTROL PLANE</a:t>
            </a:r>
            <a:endParaRPr lang="en-US" sz="900" dirty="0"/>
          </a:p>
        </p:txBody>
      </p:sp>
      <p:sp>
        <p:nvSpPr>
          <p:cNvPr id="23" name="Text 21"/>
          <p:cNvSpPr/>
          <p:nvPr/>
        </p:nvSpPr>
        <p:spPr>
          <a:xfrm>
            <a:off x="4315968" y="4187952"/>
            <a:ext cx="2468880" cy="228600"/>
          </a:xfrm>
          <a:prstGeom prst="rect">
            <a:avLst/>
          </a:prstGeom>
          <a:noFill/>
          <a:ln/>
        </p:spPr>
        <p:txBody>
          <a:bodyPr wrap="square" lIns="0" tIns="0" rIns="0" bIns="0" rtlCol="0" anchor="ctr"/>
          <a:lstStyle/>
          <a:p>
            <a:pPr indent="0" marL="0">
              <a:buNone/>
            </a:pPr>
            <a:r>
              <a:rPr lang="en-US" sz="1100" dirty="0">
                <a:solidFill>
                  <a:srgbClr val="0F172A"/>
                </a:solidFill>
              </a:rPr>
              <a:t>Job status can become complete</a:t>
            </a:r>
            <a:endParaRPr lang="en-US" sz="1100" dirty="0"/>
          </a:p>
        </p:txBody>
      </p:sp>
      <p:sp>
        <p:nvSpPr>
          <p:cNvPr id="24" name="Shape 22"/>
          <p:cNvSpPr/>
          <p:nvPr/>
        </p:nvSpPr>
        <p:spPr>
          <a:xfrm>
            <a:off x="7543800" y="3703320"/>
            <a:ext cx="3063240" cy="1051560"/>
          </a:xfrm>
          <a:prstGeom prst="roundRect">
            <a:avLst>
              <a:gd name="adj" fmla="val 6957"/>
            </a:avLst>
          </a:prstGeom>
          <a:solidFill>
            <a:srgbClr val="FEF2F2"/>
          </a:solidFill>
          <a:ln w="10160">
            <a:solidFill>
              <a:srgbClr val="FECACA"/>
            </a:solidFill>
            <a:prstDash val="solid"/>
          </a:ln>
        </p:spPr>
      </p:sp>
      <p:sp>
        <p:nvSpPr>
          <p:cNvPr id="25" name="Text 23"/>
          <p:cNvSpPr/>
          <p:nvPr/>
        </p:nvSpPr>
        <p:spPr>
          <a:xfrm>
            <a:off x="7790688" y="3886200"/>
            <a:ext cx="1371600" cy="182880"/>
          </a:xfrm>
          <a:prstGeom prst="rect">
            <a:avLst/>
          </a:prstGeom>
          <a:noFill/>
          <a:ln/>
        </p:spPr>
        <p:txBody>
          <a:bodyPr wrap="square" lIns="0" tIns="0" rIns="0" bIns="0" rtlCol="0" anchor="ctr"/>
          <a:lstStyle/>
          <a:p>
            <a:pPr indent="0" marL="0">
              <a:buNone/>
            </a:pPr>
            <a:r>
              <a:rPr lang="en-US" sz="900" b="1" dirty="0">
                <a:solidFill>
                  <a:srgbClr val="DC2626"/>
                </a:solidFill>
              </a:rPr>
              <a:t>DATA PLANE</a:t>
            </a:r>
            <a:endParaRPr lang="en-US" sz="900" dirty="0"/>
          </a:p>
        </p:txBody>
      </p:sp>
      <p:sp>
        <p:nvSpPr>
          <p:cNvPr id="26" name="Text 24"/>
          <p:cNvSpPr/>
          <p:nvPr/>
        </p:nvSpPr>
        <p:spPr>
          <a:xfrm>
            <a:off x="7790688" y="4187952"/>
            <a:ext cx="2514600" cy="228600"/>
          </a:xfrm>
          <a:prstGeom prst="rect">
            <a:avLst/>
          </a:prstGeom>
          <a:noFill/>
          <a:ln/>
        </p:spPr>
        <p:txBody>
          <a:bodyPr wrap="square" lIns="0" tIns="0" rIns="0" bIns="0" rtlCol="0" anchor="ctr"/>
          <a:lstStyle/>
          <a:p>
            <a:pPr indent="0" marL="0">
              <a:buNone/>
            </a:pPr>
            <a:r>
              <a:rPr lang="en-US" sz="1100" dirty="0">
                <a:solidFill>
                  <a:srgbClr val="0F172A"/>
                </a:solidFill>
              </a:rPr>
              <a:t>Case result contract is missing/empty</a:t>
            </a:r>
            <a:endParaRPr lang="en-US" sz="1100" dirty="0"/>
          </a:p>
        </p:txBody>
      </p:sp>
      <p:sp>
        <p:nvSpPr>
          <p:cNvPr id="27" name="Shape 25"/>
          <p:cNvSpPr/>
          <p:nvPr/>
        </p:nvSpPr>
        <p:spPr>
          <a:xfrm>
            <a:off x="6995160" y="3035808"/>
            <a:ext cx="914400" cy="576072"/>
          </a:xfrm>
          <a:prstGeom prst="line">
            <a:avLst/>
          </a:prstGeom>
          <a:noFill/>
          <a:ln w="22860">
            <a:solidFill>
              <a:srgbClr val="DC2626"/>
            </a:solidFill>
            <a:prstDash val="solid"/>
            <a:headEnd type="none"/>
            <a:tailEnd type="triangle"/>
          </a:ln>
        </p:spPr>
      </p:sp>
      <p:sp>
        <p:nvSpPr>
          <p:cNvPr id="28" name="Shape 26"/>
          <p:cNvSpPr/>
          <p:nvPr/>
        </p:nvSpPr>
        <p:spPr>
          <a:xfrm>
            <a:off x="6583680" y="3154680"/>
            <a:ext cx="2468880" cy="274320"/>
          </a:xfrm>
          <a:prstGeom prst="roundRect">
            <a:avLst/>
          </a:prstGeom>
          <a:solidFill>
            <a:srgbClr val="DC2626"/>
          </a:solidFill>
          <a:ln w="12700">
            <a:solidFill>
              <a:srgbClr val="DC2626"/>
            </a:solidFill>
            <a:prstDash val="solid"/>
          </a:ln>
        </p:spPr>
      </p:sp>
      <p:sp>
        <p:nvSpPr>
          <p:cNvPr id="29" name="Text 27"/>
          <p:cNvSpPr/>
          <p:nvPr/>
        </p:nvSpPr>
        <p:spPr>
          <a:xfrm>
            <a:off x="6629400" y="3204972"/>
            <a:ext cx="2377440" cy="137160"/>
          </a:xfrm>
          <a:prstGeom prst="rect">
            <a:avLst/>
          </a:prstGeom>
          <a:noFill/>
          <a:ln/>
        </p:spPr>
        <p:txBody>
          <a:bodyPr wrap="square" lIns="0" tIns="0" rIns="0" bIns="0" rtlCol="0" anchor="ctr"/>
          <a:lstStyle/>
          <a:p>
            <a:pPr algn="ctr" indent="0" marL="0">
              <a:buNone/>
            </a:pPr>
            <a:r>
              <a:rPr lang="en-US" sz="800" b="1" dirty="0">
                <a:solidFill>
                  <a:srgbClr val="FFFFFF"/>
                </a:solidFill>
              </a:rPr>
              <a:t>LIKELY FAILURE BOUNDARY</a:t>
            </a:r>
            <a:endParaRPr lang="en-US" sz="800" dirty="0"/>
          </a:p>
        </p:txBody>
      </p:sp>
      <p:sp>
        <p:nvSpPr>
          <p:cNvPr id="30" name="Text 28"/>
          <p:cNvSpPr/>
          <p:nvPr/>
        </p:nvSpPr>
        <p:spPr>
          <a:xfrm>
            <a:off x="1051560" y="5349240"/>
            <a:ext cx="10058400" cy="411480"/>
          </a:xfrm>
          <a:prstGeom prst="rect">
            <a:avLst/>
          </a:prstGeom>
          <a:noFill/>
          <a:ln/>
        </p:spPr>
        <p:txBody>
          <a:bodyPr wrap="square" lIns="0" tIns="0" rIns="0" bIns="0" rtlCol="0" anchor="ctr"/>
          <a:lstStyle/>
          <a:p>
            <a:pPr algn="ctr" indent="0" marL="0">
              <a:buNone/>
            </a:pPr>
            <a:r>
              <a:rPr lang="en-US" sz="1400" b="1" dirty="0">
                <a:solidFill>
                  <a:srgbClr val="0F172A"/>
                </a:solidFill>
              </a:rPr>
              <a:t>A batch must not be considered benchmark-complete until every case has a validated normalized result or an explicit terminal error object.</a:t>
            </a:r>
            <a:endParaRPr lang="en-US" sz="14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Root-cause hypothesis stack</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The report alone cannot prove the implementation defect; these hypotheses are prioritized by fit to the observed evidence.</a:t>
            </a:r>
            <a:endParaRPr lang="en-US" sz="1150" dirty="0"/>
          </a:p>
        </p:txBody>
      </p:sp>
      <p:sp>
        <p:nvSpPr>
          <p:cNvPr id="4" name="Text 2"/>
          <p:cNvSpPr/>
          <p:nvPr/>
        </p:nvSpPr>
        <p:spPr>
          <a:xfrm>
            <a:off x="658368" y="1463040"/>
            <a:ext cx="411480" cy="182880"/>
          </a:xfrm>
          <a:prstGeom prst="rect">
            <a:avLst/>
          </a:prstGeom>
          <a:noFill/>
          <a:ln/>
        </p:spPr>
        <p:txBody>
          <a:bodyPr wrap="square" lIns="0" tIns="0" rIns="0" bIns="0" rtlCol="0" anchor="ctr"/>
          <a:lstStyle/>
          <a:p>
            <a:pPr indent="0" marL="0">
              <a:buNone/>
            </a:pPr>
            <a:r>
              <a:rPr lang="en-US" sz="800" b="1" dirty="0">
                <a:solidFill>
                  <a:srgbClr val="64748B"/>
                </a:solidFill>
              </a:rPr>
              <a:t>PRI</a:t>
            </a:r>
            <a:endParaRPr lang="en-US" sz="800" dirty="0"/>
          </a:p>
        </p:txBody>
      </p:sp>
      <p:sp>
        <p:nvSpPr>
          <p:cNvPr id="5" name="Text 3"/>
          <p:cNvSpPr/>
          <p:nvPr/>
        </p:nvSpPr>
        <p:spPr>
          <a:xfrm>
            <a:off x="1143000" y="1463040"/>
            <a:ext cx="1828800" cy="182880"/>
          </a:xfrm>
          <a:prstGeom prst="rect">
            <a:avLst/>
          </a:prstGeom>
          <a:noFill/>
          <a:ln/>
        </p:spPr>
        <p:txBody>
          <a:bodyPr wrap="square" lIns="0" tIns="0" rIns="0" bIns="0" rtlCol="0" anchor="ctr"/>
          <a:lstStyle/>
          <a:p>
            <a:pPr indent="0" marL="0">
              <a:buNone/>
            </a:pPr>
            <a:r>
              <a:rPr lang="en-US" sz="800" b="1" dirty="0">
                <a:solidFill>
                  <a:srgbClr val="64748B"/>
                </a:solidFill>
              </a:rPr>
              <a:t>HYPOTHESIS</a:t>
            </a:r>
            <a:endParaRPr lang="en-US" sz="800" dirty="0"/>
          </a:p>
        </p:txBody>
      </p:sp>
      <p:sp>
        <p:nvSpPr>
          <p:cNvPr id="6" name="Text 4"/>
          <p:cNvSpPr/>
          <p:nvPr/>
        </p:nvSpPr>
        <p:spPr>
          <a:xfrm>
            <a:off x="3154680" y="1463040"/>
            <a:ext cx="4023360" cy="182880"/>
          </a:xfrm>
          <a:prstGeom prst="rect">
            <a:avLst/>
          </a:prstGeom>
          <a:noFill/>
          <a:ln/>
        </p:spPr>
        <p:txBody>
          <a:bodyPr wrap="square" lIns="0" tIns="0" rIns="0" bIns="0" rtlCol="0" anchor="ctr"/>
          <a:lstStyle/>
          <a:p>
            <a:pPr indent="0" marL="0">
              <a:buNone/>
            </a:pPr>
            <a:r>
              <a:rPr lang="en-US" sz="800" b="1" dirty="0">
                <a:solidFill>
                  <a:srgbClr val="64748B"/>
                </a:solidFill>
              </a:rPr>
              <a:t>WHY IT FITS</a:t>
            </a:r>
            <a:endParaRPr lang="en-US" sz="800" dirty="0"/>
          </a:p>
        </p:txBody>
      </p:sp>
      <p:sp>
        <p:nvSpPr>
          <p:cNvPr id="7" name="Text 5"/>
          <p:cNvSpPr/>
          <p:nvPr/>
        </p:nvSpPr>
        <p:spPr>
          <a:xfrm>
            <a:off x="7452360" y="1463040"/>
            <a:ext cx="731520" cy="182880"/>
          </a:xfrm>
          <a:prstGeom prst="rect">
            <a:avLst/>
          </a:prstGeom>
          <a:noFill/>
          <a:ln/>
        </p:spPr>
        <p:txBody>
          <a:bodyPr wrap="square" lIns="0" tIns="0" rIns="0" bIns="0" rtlCol="0" anchor="ctr"/>
          <a:lstStyle/>
          <a:p>
            <a:pPr indent="0" marL="0">
              <a:buNone/>
            </a:pPr>
            <a:r>
              <a:rPr lang="en-US" sz="800" b="1" dirty="0">
                <a:solidFill>
                  <a:srgbClr val="64748B"/>
                </a:solidFill>
              </a:rPr>
              <a:t>CONF.</a:t>
            </a:r>
            <a:endParaRPr lang="en-US" sz="800" dirty="0"/>
          </a:p>
        </p:txBody>
      </p:sp>
      <p:sp>
        <p:nvSpPr>
          <p:cNvPr id="8" name="Text 6"/>
          <p:cNvSpPr/>
          <p:nvPr/>
        </p:nvSpPr>
        <p:spPr>
          <a:xfrm>
            <a:off x="8366760" y="1463040"/>
            <a:ext cx="3017520" cy="182880"/>
          </a:xfrm>
          <a:prstGeom prst="rect">
            <a:avLst/>
          </a:prstGeom>
          <a:noFill/>
          <a:ln/>
        </p:spPr>
        <p:txBody>
          <a:bodyPr wrap="square" lIns="0" tIns="0" rIns="0" bIns="0" rtlCol="0" anchor="ctr"/>
          <a:lstStyle/>
          <a:p>
            <a:pPr indent="0" marL="0">
              <a:buNone/>
            </a:pPr>
            <a:r>
              <a:rPr lang="en-US" sz="800" b="1" dirty="0">
                <a:solidFill>
                  <a:srgbClr val="64748B"/>
                </a:solidFill>
              </a:rPr>
              <a:t>VALIDATION</a:t>
            </a:r>
            <a:endParaRPr lang="en-US" sz="800" dirty="0"/>
          </a:p>
        </p:txBody>
      </p:sp>
      <p:sp>
        <p:nvSpPr>
          <p:cNvPr id="9" name="Shape 7"/>
          <p:cNvSpPr/>
          <p:nvPr/>
        </p:nvSpPr>
        <p:spPr>
          <a:xfrm>
            <a:off x="594360" y="1783080"/>
            <a:ext cx="10927080" cy="621792"/>
          </a:xfrm>
          <a:prstGeom prst="roundRect">
            <a:avLst>
              <a:gd name="adj" fmla="val 11765"/>
            </a:avLst>
          </a:prstGeom>
          <a:solidFill>
            <a:srgbClr val="FFFFFF"/>
          </a:solidFill>
          <a:ln w="10160">
            <a:solidFill>
              <a:srgbClr val="D8DEE8"/>
            </a:solidFill>
            <a:prstDash val="solid"/>
          </a:ln>
        </p:spPr>
      </p:sp>
      <p:sp>
        <p:nvSpPr>
          <p:cNvPr id="10" name="Text 8"/>
          <p:cNvSpPr/>
          <p:nvPr/>
        </p:nvSpPr>
        <p:spPr>
          <a:xfrm>
            <a:off x="749808" y="1947672"/>
            <a:ext cx="228600" cy="201168"/>
          </a:xfrm>
          <a:prstGeom prst="rect">
            <a:avLst/>
          </a:prstGeom>
          <a:noFill/>
          <a:ln/>
        </p:spPr>
        <p:txBody>
          <a:bodyPr wrap="square" lIns="0" tIns="0" rIns="0" bIns="0" rtlCol="0" anchor="ctr"/>
          <a:lstStyle/>
          <a:p>
            <a:pPr indent="0" marL="0">
              <a:buNone/>
            </a:pPr>
            <a:r>
              <a:rPr lang="en-US" sz="1200" b="1" dirty="0">
                <a:solidFill>
                  <a:srgbClr val="2563EB"/>
                </a:solidFill>
              </a:rPr>
              <a:t>1</a:t>
            </a:r>
            <a:endParaRPr lang="en-US" sz="1200" dirty="0"/>
          </a:p>
        </p:txBody>
      </p:sp>
      <p:sp>
        <p:nvSpPr>
          <p:cNvPr id="11" name="Text 9"/>
          <p:cNvSpPr/>
          <p:nvPr/>
        </p:nvSpPr>
        <p:spPr>
          <a:xfrm>
            <a:off x="1143000" y="1920240"/>
            <a:ext cx="1828800" cy="292608"/>
          </a:xfrm>
          <a:prstGeom prst="rect">
            <a:avLst/>
          </a:prstGeom>
          <a:noFill/>
          <a:ln/>
        </p:spPr>
        <p:txBody>
          <a:bodyPr wrap="square" lIns="0" tIns="0" rIns="0" bIns="0" rtlCol="0" anchor="ctr"/>
          <a:lstStyle/>
          <a:p>
            <a:pPr indent="0" marL="0">
              <a:buNone/>
            </a:pPr>
            <a:r>
              <a:rPr lang="en-US" sz="1100" b="1" dirty="0">
                <a:solidFill>
                  <a:srgbClr val="0F172A"/>
                </a:solidFill>
              </a:rPr>
              <a:t>Schema mismatch</a:t>
            </a:r>
            <a:endParaRPr lang="en-US" sz="1100" dirty="0"/>
          </a:p>
        </p:txBody>
      </p:sp>
      <p:sp>
        <p:nvSpPr>
          <p:cNvPr id="12" name="Text 10"/>
          <p:cNvSpPr/>
          <p:nvPr/>
        </p:nvSpPr>
        <p:spPr>
          <a:xfrm>
            <a:off x="3154680" y="1892808"/>
            <a:ext cx="402336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Backend returns result fields under a shape the runner does not parse</a:t>
            </a:r>
            <a:endParaRPr lang="en-US" sz="950" dirty="0"/>
          </a:p>
        </p:txBody>
      </p:sp>
      <p:sp>
        <p:nvSpPr>
          <p:cNvPr id="13" name="Shape 11"/>
          <p:cNvSpPr/>
          <p:nvPr/>
        </p:nvSpPr>
        <p:spPr>
          <a:xfrm>
            <a:off x="7388352" y="1947672"/>
            <a:ext cx="777240" cy="274320"/>
          </a:xfrm>
          <a:prstGeom prst="roundRect">
            <a:avLst/>
          </a:prstGeom>
          <a:solidFill>
            <a:srgbClr val="DC2626"/>
          </a:solidFill>
          <a:ln w="12700">
            <a:solidFill>
              <a:srgbClr val="DC2626"/>
            </a:solidFill>
            <a:prstDash val="solid"/>
          </a:ln>
        </p:spPr>
      </p:sp>
      <p:sp>
        <p:nvSpPr>
          <p:cNvPr id="14" name="Text 12"/>
          <p:cNvSpPr/>
          <p:nvPr/>
        </p:nvSpPr>
        <p:spPr>
          <a:xfrm>
            <a:off x="7434072" y="1997964"/>
            <a:ext cx="685800" cy="137160"/>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15" name="Text 13"/>
          <p:cNvSpPr/>
          <p:nvPr/>
        </p:nvSpPr>
        <p:spPr>
          <a:xfrm>
            <a:off x="8366760" y="1892808"/>
            <a:ext cx="283464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Inspect raw /benchmark-status JSON</a:t>
            </a:r>
            <a:endParaRPr lang="en-US" sz="950" dirty="0"/>
          </a:p>
        </p:txBody>
      </p:sp>
      <p:sp>
        <p:nvSpPr>
          <p:cNvPr id="16" name="Shape 14"/>
          <p:cNvSpPr/>
          <p:nvPr/>
        </p:nvSpPr>
        <p:spPr>
          <a:xfrm>
            <a:off x="594360" y="2587752"/>
            <a:ext cx="10927080" cy="621792"/>
          </a:xfrm>
          <a:prstGeom prst="roundRect">
            <a:avLst>
              <a:gd name="adj" fmla="val 11765"/>
            </a:avLst>
          </a:prstGeom>
          <a:solidFill>
            <a:srgbClr val="F8FAFC"/>
          </a:solidFill>
          <a:ln w="10160">
            <a:solidFill>
              <a:srgbClr val="D8DEE8"/>
            </a:solidFill>
            <a:prstDash val="solid"/>
          </a:ln>
        </p:spPr>
      </p:sp>
      <p:sp>
        <p:nvSpPr>
          <p:cNvPr id="17" name="Text 15"/>
          <p:cNvSpPr/>
          <p:nvPr/>
        </p:nvSpPr>
        <p:spPr>
          <a:xfrm>
            <a:off x="749808" y="2752344"/>
            <a:ext cx="228600" cy="201168"/>
          </a:xfrm>
          <a:prstGeom prst="rect">
            <a:avLst/>
          </a:prstGeom>
          <a:noFill/>
          <a:ln/>
        </p:spPr>
        <p:txBody>
          <a:bodyPr wrap="square" lIns="0" tIns="0" rIns="0" bIns="0" rtlCol="0" anchor="ctr"/>
          <a:lstStyle/>
          <a:p>
            <a:pPr indent="0" marL="0">
              <a:buNone/>
            </a:pPr>
            <a:r>
              <a:rPr lang="en-US" sz="1200" b="1" dirty="0">
                <a:solidFill>
                  <a:srgbClr val="2563EB"/>
                </a:solidFill>
              </a:rPr>
              <a:t>2</a:t>
            </a:r>
            <a:endParaRPr lang="en-US" sz="1200" dirty="0"/>
          </a:p>
        </p:txBody>
      </p:sp>
      <p:sp>
        <p:nvSpPr>
          <p:cNvPr id="18" name="Text 16"/>
          <p:cNvSpPr/>
          <p:nvPr/>
        </p:nvSpPr>
        <p:spPr>
          <a:xfrm>
            <a:off x="1143000" y="2724912"/>
            <a:ext cx="1828800" cy="292608"/>
          </a:xfrm>
          <a:prstGeom prst="rect">
            <a:avLst/>
          </a:prstGeom>
          <a:noFill/>
          <a:ln/>
        </p:spPr>
        <p:txBody>
          <a:bodyPr wrap="square" lIns="0" tIns="0" rIns="0" bIns="0" rtlCol="0" anchor="ctr"/>
          <a:lstStyle/>
          <a:p>
            <a:pPr indent="0" marL="0">
              <a:buNone/>
            </a:pPr>
            <a:r>
              <a:rPr lang="en-US" sz="1100" b="1" dirty="0">
                <a:solidFill>
                  <a:srgbClr val="0F172A"/>
                </a:solidFill>
              </a:rPr>
              <a:t>Premature completion</a:t>
            </a:r>
            <a:endParaRPr lang="en-US" sz="1100" dirty="0"/>
          </a:p>
        </p:txBody>
      </p:sp>
      <p:sp>
        <p:nvSpPr>
          <p:cNvPr id="19" name="Text 17"/>
          <p:cNvSpPr/>
          <p:nvPr/>
        </p:nvSpPr>
        <p:spPr>
          <a:xfrm>
            <a:off x="3154680" y="2697480"/>
            <a:ext cx="402336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Batch status flips complete before case result materialization</a:t>
            </a:r>
            <a:endParaRPr lang="en-US" sz="950" dirty="0"/>
          </a:p>
        </p:txBody>
      </p:sp>
      <p:sp>
        <p:nvSpPr>
          <p:cNvPr id="20" name="Shape 18"/>
          <p:cNvSpPr/>
          <p:nvPr/>
        </p:nvSpPr>
        <p:spPr>
          <a:xfrm>
            <a:off x="7388352" y="2752344"/>
            <a:ext cx="777240" cy="274320"/>
          </a:xfrm>
          <a:prstGeom prst="roundRect">
            <a:avLst/>
          </a:prstGeom>
          <a:solidFill>
            <a:srgbClr val="DC2626"/>
          </a:solidFill>
          <a:ln w="12700">
            <a:solidFill>
              <a:srgbClr val="DC2626"/>
            </a:solidFill>
            <a:prstDash val="solid"/>
          </a:ln>
        </p:spPr>
      </p:sp>
      <p:sp>
        <p:nvSpPr>
          <p:cNvPr id="21" name="Text 19"/>
          <p:cNvSpPr/>
          <p:nvPr/>
        </p:nvSpPr>
        <p:spPr>
          <a:xfrm>
            <a:off x="7434072" y="2802636"/>
            <a:ext cx="685800" cy="137160"/>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22" name="Text 20"/>
          <p:cNvSpPr/>
          <p:nvPr/>
        </p:nvSpPr>
        <p:spPr>
          <a:xfrm>
            <a:off x="8366760" y="2697480"/>
            <a:ext cx="283464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Gate COMPLETE on validated case results</a:t>
            </a:r>
            <a:endParaRPr lang="en-US" sz="950" dirty="0"/>
          </a:p>
        </p:txBody>
      </p:sp>
      <p:sp>
        <p:nvSpPr>
          <p:cNvPr id="23" name="Shape 21"/>
          <p:cNvSpPr/>
          <p:nvPr/>
        </p:nvSpPr>
        <p:spPr>
          <a:xfrm>
            <a:off x="594360" y="3392424"/>
            <a:ext cx="10927080" cy="621792"/>
          </a:xfrm>
          <a:prstGeom prst="roundRect">
            <a:avLst>
              <a:gd name="adj" fmla="val 11765"/>
            </a:avLst>
          </a:prstGeom>
          <a:solidFill>
            <a:srgbClr val="FFFFFF"/>
          </a:solidFill>
          <a:ln w="10160">
            <a:solidFill>
              <a:srgbClr val="D8DEE8"/>
            </a:solidFill>
            <a:prstDash val="solid"/>
          </a:ln>
        </p:spPr>
      </p:sp>
      <p:sp>
        <p:nvSpPr>
          <p:cNvPr id="24" name="Text 22"/>
          <p:cNvSpPr/>
          <p:nvPr/>
        </p:nvSpPr>
        <p:spPr>
          <a:xfrm>
            <a:off x="749808" y="3557016"/>
            <a:ext cx="228600" cy="201168"/>
          </a:xfrm>
          <a:prstGeom prst="rect">
            <a:avLst/>
          </a:prstGeom>
          <a:noFill/>
          <a:ln/>
        </p:spPr>
        <p:txBody>
          <a:bodyPr wrap="square" lIns="0" tIns="0" rIns="0" bIns="0" rtlCol="0" anchor="ctr"/>
          <a:lstStyle/>
          <a:p>
            <a:pPr indent="0" marL="0">
              <a:buNone/>
            </a:pPr>
            <a:r>
              <a:rPr lang="en-US" sz="1200" b="1" dirty="0">
                <a:solidFill>
                  <a:srgbClr val="2563EB"/>
                </a:solidFill>
              </a:rPr>
              <a:t>3</a:t>
            </a:r>
            <a:endParaRPr lang="en-US" sz="1200" dirty="0"/>
          </a:p>
        </p:txBody>
      </p:sp>
      <p:sp>
        <p:nvSpPr>
          <p:cNvPr id="25" name="Text 23"/>
          <p:cNvSpPr/>
          <p:nvPr/>
        </p:nvSpPr>
        <p:spPr>
          <a:xfrm>
            <a:off x="1143000" y="3529584"/>
            <a:ext cx="1828800" cy="292608"/>
          </a:xfrm>
          <a:prstGeom prst="rect">
            <a:avLst/>
          </a:prstGeom>
          <a:noFill/>
          <a:ln/>
        </p:spPr>
        <p:txBody>
          <a:bodyPr wrap="square" lIns="0" tIns="0" rIns="0" bIns="0" rtlCol="0" anchor="ctr"/>
          <a:lstStyle/>
          <a:p>
            <a:pPr indent="0" marL="0">
              <a:buNone/>
            </a:pPr>
            <a:r>
              <a:rPr lang="en-US" sz="1100" b="1" dirty="0">
                <a:solidFill>
                  <a:srgbClr val="0F172A"/>
                </a:solidFill>
              </a:rPr>
              <a:t>Result reference indirection</a:t>
            </a:r>
            <a:endParaRPr lang="en-US" sz="1100" dirty="0"/>
          </a:p>
        </p:txBody>
      </p:sp>
      <p:sp>
        <p:nvSpPr>
          <p:cNvPr id="26" name="Text 24"/>
          <p:cNvSpPr/>
          <p:nvPr/>
        </p:nvSpPr>
        <p:spPr>
          <a:xfrm>
            <a:off x="3154680" y="3502152"/>
            <a:ext cx="402336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Status endpoint returns IDs/metadata, requiring a separate result fetch</a:t>
            </a:r>
            <a:endParaRPr lang="en-US" sz="950" dirty="0"/>
          </a:p>
        </p:txBody>
      </p:sp>
      <p:sp>
        <p:nvSpPr>
          <p:cNvPr id="27" name="Shape 25"/>
          <p:cNvSpPr/>
          <p:nvPr/>
        </p:nvSpPr>
        <p:spPr>
          <a:xfrm>
            <a:off x="7388352" y="3557016"/>
            <a:ext cx="777240" cy="274320"/>
          </a:xfrm>
          <a:prstGeom prst="roundRect">
            <a:avLst/>
          </a:prstGeom>
          <a:solidFill>
            <a:srgbClr val="D97706"/>
          </a:solidFill>
          <a:ln w="12700">
            <a:solidFill>
              <a:srgbClr val="D97706"/>
            </a:solidFill>
            <a:prstDash val="solid"/>
          </a:ln>
        </p:spPr>
      </p:sp>
      <p:sp>
        <p:nvSpPr>
          <p:cNvPr id="28" name="Text 26"/>
          <p:cNvSpPr/>
          <p:nvPr/>
        </p:nvSpPr>
        <p:spPr>
          <a:xfrm>
            <a:off x="7434072" y="3607308"/>
            <a:ext cx="685800" cy="137160"/>
          </a:xfrm>
          <a:prstGeom prst="rect">
            <a:avLst/>
          </a:prstGeom>
          <a:noFill/>
          <a:ln/>
        </p:spPr>
        <p:txBody>
          <a:bodyPr wrap="square" lIns="0" tIns="0" rIns="0" bIns="0" rtlCol="0" anchor="ctr"/>
          <a:lstStyle/>
          <a:p>
            <a:pPr algn="ctr" indent="0" marL="0">
              <a:buNone/>
            </a:pPr>
            <a:r>
              <a:rPr lang="en-US" sz="800" b="1" dirty="0">
                <a:solidFill>
                  <a:srgbClr val="FFFFFF"/>
                </a:solidFill>
              </a:rPr>
              <a:t>MED</a:t>
            </a:r>
            <a:endParaRPr lang="en-US" sz="800" dirty="0"/>
          </a:p>
        </p:txBody>
      </p:sp>
      <p:sp>
        <p:nvSpPr>
          <p:cNvPr id="29" name="Text 27"/>
          <p:cNvSpPr/>
          <p:nvPr/>
        </p:nvSpPr>
        <p:spPr>
          <a:xfrm>
            <a:off x="8366760" y="3502152"/>
            <a:ext cx="283464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Check API contract / result endpoint</a:t>
            </a:r>
            <a:endParaRPr lang="en-US" sz="950" dirty="0"/>
          </a:p>
        </p:txBody>
      </p:sp>
      <p:sp>
        <p:nvSpPr>
          <p:cNvPr id="30" name="Shape 28"/>
          <p:cNvSpPr/>
          <p:nvPr/>
        </p:nvSpPr>
        <p:spPr>
          <a:xfrm>
            <a:off x="594360" y="4197096"/>
            <a:ext cx="10927080" cy="621792"/>
          </a:xfrm>
          <a:prstGeom prst="roundRect">
            <a:avLst>
              <a:gd name="adj" fmla="val 11765"/>
            </a:avLst>
          </a:prstGeom>
          <a:solidFill>
            <a:srgbClr val="F8FAFC"/>
          </a:solidFill>
          <a:ln w="10160">
            <a:solidFill>
              <a:srgbClr val="D8DEE8"/>
            </a:solidFill>
            <a:prstDash val="solid"/>
          </a:ln>
        </p:spPr>
      </p:sp>
      <p:sp>
        <p:nvSpPr>
          <p:cNvPr id="31" name="Text 29"/>
          <p:cNvSpPr/>
          <p:nvPr/>
        </p:nvSpPr>
        <p:spPr>
          <a:xfrm>
            <a:off x="749808" y="4361688"/>
            <a:ext cx="228600" cy="201168"/>
          </a:xfrm>
          <a:prstGeom prst="rect">
            <a:avLst/>
          </a:prstGeom>
          <a:noFill/>
          <a:ln/>
        </p:spPr>
        <p:txBody>
          <a:bodyPr wrap="square" lIns="0" tIns="0" rIns="0" bIns="0" rtlCol="0" anchor="ctr"/>
          <a:lstStyle/>
          <a:p>
            <a:pPr indent="0" marL="0">
              <a:buNone/>
            </a:pPr>
            <a:r>
              <a:rPr lang="en-US" sz="1200" b="1" dirty="0">
                <a:solidFill>
                  <a:srgbClr val="2563EB"/>
                </a:solidFill>
              </a:rPr>
              <a:t>4</a:t>
            </a:r>
            <a:endParaRPr lang="en-US" sz="1200" dirty="0"/>
          </a:p>
        </p:txBody>
      </p:sp>
      <p:sp>
        <p:nvSpPr>
          <p:cNvPr id="32" name="Text 30"/>
          <p:cNvSpPr/>
          <p:nvPr/>
        </p:nvSpPr>
        <p:spPr>
          <a:xfrm>
            <a:off x="1143000" y="4334256"/>
            <a:ext cx="1828800" cy="292608"/>
          </a:xfrm>
          <a:prstGeom prst="rect">
            <a:avLst/>
          </a:prstGeom>
          <a:noFill/>
          <a:ln/>
        </p:spPr>
        <p:txBody>
          <a:bodyPr wrap="square" lIns="0" tIns="0" rIns="0" bIns="0" rtlCol="0" anchor="ctr"/>
          <a:lstStyle/>
          <a:p>
            <a:pPr indent="0" marL="0">
              <a:buNone/>
            </a:pPr>
            <a:r>
              <a:rPr lang="en-US" sz="1100" b="1" dirty="0">
                <a:solidFill>
                  <a:srgbClr val="0F172A"/>
                </a:solidFill>
              </a:rPr>
              <a:t>Serialization loss</a:t>
            </a:r>
            <a:endParaRPr lang="en-US" sz="1100" dirty="0"/>
          </a:p>
        </p:txBody>
      </p:sp>
      <p:sp>
        <p:nvSpPr>
          <p:cNvPr id="33" name="Text 31"/>
          <p:cNvSpPr/>
          <p:nvPr/>
        </p:nvSpPr>
        <p:spPr>
          <a:xfrm>
            <a:off x="3154680" y="4306824"/>
            <a:ext cx="402336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Case fields are dropped while checkpointing or merging batch state</a:t>
            </a:r>
            <a:endParaRPr lang="en-US" sz="950" dirty="0"/>
          </a:p>
        </p:txBody>
      </p:sp>
      <p:sp>
        <p:nvSpPr>
          <p:cNvPr id="34" name="Shape 32"/>
          <p:cNvSpPr/>
          <p:nvPr/>
        </p:nvSpPr>
        <p:spPr>
          <a:xfrm>
            <a:off x="7388352" y="4361688"/>
            <a:ext cx="777240" cy="274320"/>
          </a:xfrm>
          <a:prstGeom prst="roundRect">
            <a:avLst/>
          </a:prstGeom>
          <a:solidFill>
            <a:srgbClr val="D97706"/>
          </a:solidFill>
          <a:ln w="12700">
            <a:solidFill>
              <a:srgbClr val="D97706"/>
            </a:solidFill>
            <a:prstDash val="solid"/>
          </a:ln>
        </p:spPr>
      </p:sp>
      <p:sp>
        <p:nvSpPr>
          <p:cNvPr id="35" name="Text 33"/>
          <p:cNvSpPr/>
          <p:nvPr/>
        </p:nvSpPr>
        <p:spPr>
          <a:xfrm>
            <a:off x="7434072" y="4411980"/>
            <a:ext cx="685800" cy="137160"/>
          </a:xfrm>
          <a:prstGeom prst="rect">
            <a:avLst/>
          </a:prstGeom>
          <a:noFill/>
          <a:ln/>
        </p:spPr>
        <p:txBody>
          <a:bodyPr wrap="square" lIns="0" tIns="0" rIns="0" bIns="0" rtlCol="0" anchor="ctr"/>
          <a:lstStyle/>
          <a:p>
            <a:pPr algn="ctr" indent="0" marL="0">
              <a:buNone/>
            </a:pPr>
            <a:r>
              <a:rPr lang="en-US" sz="800" b="1" dirty="0">
                <a:solidFill>
                  <a:srgbClr val="FFFFFF"/>
                </a:solidFill>
              </a:rPr>
              <a:t>MED</a:t>
            </a:r>
            <a:endParaRPr lang="en-US" sz="800" dirty="0"/>
          </a:p>
        </p:txBody>
      </p:sp>
      <p:sp>
        <p:nvSpPr>
          <p:cNvPr id="36" name="Text 34"/>
          <p:cNvSpPr/>
          <p:nvPr/>
        </p:nvSpPr>
        <p:spPr>
          <a:xfrm>
            <a:off x="8366760" y="4306824"/>
            <a:ext cx="283464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Diff raw response vs checkpoint vs report</a:t>
            </a:r>
            <a:endParaRPr lang="en-US" sz="950" dirty="0"/>
          </a:p>
        </p:txBody>
      </p:sp>
      <p:sp>
        <p:nvSpPr>
          <p:cNvPr id="37" name="Shape 35"/>
          <p:cNvSpPr/>
          <p:nvPr/>
        </p:nvSpPr>
        <p:spPr>
          <a:xfrm>
            <a:off x="594360" y="5001768"/>
            <a:ext cx="10927080" cy="621792"/>
          </a:xfrm>
          <a:prstGeom prst="roundRect">
            <a:avLst>
              <a:gd name="adj" fmla="val 11765"/>
            </a:avLst>
          </a:prstGeom>
          <a:solidFill>
            <a:srgbClr val="FFFFFF"/>
          </a:solidFill>
          <a:ln w="10160">
            <a:solidFill>
              <a:srgbClr val="D8DEE8"/>
            </a:solidFill>
            <a:prstDash val="solid"/>
          </a:ln>
        </p:spPr>
      </p:sp>
      <p:sp>
        <p:nvSpPr>
          <p:cNvPr id="38" name="Text 36"/>
          <p:cNvSpPr/>
          <p:nvPr/>
        </p:nvSpPr>
        <p:spPr>
          <a:xfrm>
            <a:off x="749808" y="5166360"/>
            <a:ext cx="228600" cy="201168"/>
          </a:xfrm>
          <a:prstGeom prst="rect">
            <a:avLst/>
          </a:prstGeom>
          <a:noFill/>
          <a:ln/>
        </p:spPr>
        <p:txBody>
          <a:bodyPr wrap="square" lIns="0" tIns="0" rIns="0" bIns="0" rtlCol="0" anchor="ctr"/>
          <a:lstStyle/>
          <a:p>
            <a:pPr indent="0" marL="0">
              <a:buNone/>
            </a:pPr>
            <a:r>
              <a:rPr lang="en-US" sz="1200" b="1" dirty="0">
                <a:solidFill>
                  <a:srgbClr val="2563EB"/>
                </a:solidFill>
              </a:rPr>
              <a:t>5</a:t>
            </a:r>
            <a:endParaRPr lang="en-US" sz="1200" dirty="0"/>
          </a:p>
        </p:txBody>
      </p:sp>
      <p:sp>
        <p:nvSpPr>
          <p:cNvPr id="39" name="Text 37"/>
          <p:cNvSpPr/>
          <p:nvPr/>
        </p:nvSpPr>
        <p:spPr>
          <a:xfrm>
            <a:off x="1143000" y="5138928"/>
            <a:ext cx="1828800" cy="292608"/>
          </a:xfrm>
          <a:prstGeom prst="rect">
            <a:avLst/>
          </a:prstGeom>
          <a:noFill/>
          <a:ln/>
        </p:spPr>
        <p:txBody>
          <a:bodyPr wrap="square" lIns="0" tIns="0" rIns="0" bIns="0" rtlCol="0" anchor="ctr"/>
          <a:lstStyle/>
          <a:p>
            <a:pPr indent="0" marL="0">
              <a:buNone/>
            </a:pPr>
            <a:r>
              <a:rPr lang="en-US" sz="1100" b="1" dirty="0">
                <a:solidFill>
                  <a:srgbClr val="0F172A"/>
                </a:solidFill>
              </a:rPr>
              <a:t>Judge failure masked</a:t>
            </a:r>
            <a:endParaRPr lang="en-US" sz="1100" dirty="0"/>
          </a:p>
        </p:txBody>
      </p:sp>
      <p:sp>
        <p:nvSpPr>
          <p:cNvPr id="40" name="Text 38"/>
          <p:cNvSpPr/>
          <p:nvPr/>
        </p:nvSpPr>
        <p:spPr>
          <a:xfrm>
            <a:off x="3154680" y="5111496"/>
            <a:ext cx="402336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Provider errors are swallowed while batch aggregate still reports success</a:t>
            </a:r>
            <a:endParaRPr lang="en-US" sz="950" dirty="0"/>
          </a:p>
        </p:txBody>
      </p:sp>
      <p:sp>
        <p:nvSpPr>
          <p:cNvPr id="41" name="Shape 39"/>
          <p:cNvSpPr/>
          <p:nvPr/>
        </p:nvSpPr>
        <p:spPr>
          <a:xfrm>
            <a:off x="7388352" y="5166360"/>
            <a:ext cx="777240" cy="274320"/>
          </a:xfrm>
          <a:prstGeom prst="roundRect">
            <a:avLst/>
          </a:prstGeom>
          <a:solidFill>
            <a:srgbClr val="D97706"/>
          </a:solidFill>
          <a:ln w="12700">
            <a:solidFill>
              <a:srgbClr val="D97706"/>
            </a:solidFill>
            <a:prstDash val="solid"/>
          </a:ln>
        </p:spPr>
      </p:sp>
      <p:sp>
        <p:nvSpPr>
          <p:cNvPr id="42" name="Text 40"/>
          <p:cNvSpPr/>
          <p:nvPr/>
        </p:nvSpPr>
        <p:spPr>
          <a:xfrm>
            <a:off x="7434072" y="5216652"/>
            <a:ext cx="685800" cy="137160"/>
          </a:xfrm>
          <a:prstGeom prst="rect">
            <a:avLst/>
          </a:prstGeom>
          <a:noFill/>
          <a:ln/>
        </p:spPr>
        <p:txBody>
          <a:bodyPr wrap="square" lIns="0" tIns="0" rIns="0" bIns="0" rtlCol="0" anchor="ctr"/>
          <a:lstStyle/>
          <a:p>
            <a:pPr algn="ctr" indent="0" marL="0">
              <a:buNone/>
            </a:pPr>
            <a:r>
              <a:rPr lang="en-US" sz="800" b="1" dirty="0">
                <a:solidFill>
                  <a:srgbClr val="FFFFFF"/>
                </a:solidFill>
              </a:rPr>
              <a:t>MED</a:t>
            </a:r>
            <a:endParaRPr lang="en-US" sz="800" dirty="0"/>
          </a:p>
        </p:txBody>
      </p:sp>
      <p:sp>
        <p:nvSpPr>
          <p:cNvPr id="43" name="Text 41"/>
          <p:cNvSpPr/>
          <p:nvPr/>
        </p:nvSpPr>
        <p:spPr>
          <a:xfrm>
            <a:off x="8366760" y="5111496"/>
            <a:ext cx="2834640" cy="365760"/>
          </a:xfrm>
          <a:prstGeom prst="rect">
            <a:avLst/>
          </a:prstGeom>
          <a:noFill/>
          <a:ln/>
        </p:spPr>
        <p:txBody>
          <a:bodyPr wrap="square" lIns="0" tIns="0" rIns="0" bIns="0" rtlCol="0" anchor="ctr">
            <a:normAutofit/>
          </a:bodyPr>
          <a:lstStyle/>
          <a:p>
            <a:pPr indent="0" marL="0">
              <a:buNone/>
            </a:pPr>
            <a:r>
              <a:rPr lang="en-US" sz="950" dirty="0">
                <a:solidFill>
                  <a:srgbClr val="475569"/>
                </a:solidFill>
              </a:rPr>
              <a:t>Persist provider error per case</a:t>
            </a:r>
            <a:endParaRPr lang="en-US" sz="95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Required result contract: make “complete” a data-quality assertion</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A strict contract prevents green control-plane status from masking empty benchmark evidence.</a:t>
            </a:r>
            <a:endParaRPr lang="en-US" sz="1150" dirty="0"/>
          </a:p>
        </p:txBody>
      </p:sp>
      <p:sp>
        <p:nvSpPr>
          <p:cNvPr id="4" name="Shape 2"/>
          <p:cNvSpPr/>
          <p:nvPr/>
        </p:nvSpPr>
        <p:spPr>
          <a:xfrm>
            <a:off x="594360" y="1417320"/>
            <a:ext cx="5303520" cy="4526280"/>
          </a:xfrm>
          <a:prstGeom prst="roundRect">
            <a:avLst>
              <a:gd name="adj" fmla="val 1616"/>
            </a:avLst>
          </a:prstGeom>
          <a:solidFill>
            <a:srgbClr val="0F172A"/>
          </a:solidFill>
          <a:ln w="10160">
            <a:solidFill>
              <a:srgbClr val="0F172A"/>
            </a:solidFill>
            <a:prstDash val="solid"/>
          </a:ln>
        </p:spPr>
      </p:sp>
      <p:sp>
        <p:nvSpPr>
          <p:cNvPr id="5" name="Text 3"/>
          <p:cNvSpPr/>
          <p:nvPr/>
        </p:nvSpPr>
        <p:spPr>
          <a:xfrm>
            <a:off x="868680" y="1691640"/>
            <a:ext cx="3108960" cy="228600"/>
          </a:xfrm>
          <a:prstGeom prst="rect">
            <a:avLst/>
          </a:prstGeom>
          <a:noFill/>
          <a:ln/>
        </p:spPr>
        <p:txBody>
          <a:bodyPr wrap="square" lIns="0" tIns="0" rIns="0" bIns="0" rtlCol="0" anchor="ctr"/>
          <a:lstStyle/>
          <a:p>
            <a:pPr indent="0" marL="0">
              <a:buNone/>
            </a:pPr>
            <a:r>
              <a:rPr lang="en-US" sz="1000" b="1" spc="100" kern="0" dirty="0">
                <a:solidFill>
                  <a:srgbClr val="93C5FD"/>
                </a:solidFill>
              </a:rPr>
              <a:t>CASE RESULT — MINIMUM CONTRACT</a:t>
            </a:r>
            <a:endParaRPr lang="en-US" sz="1000" dirty="0"/>
          </a:p>
        </p:txBody>
      </p:sp>
      <p:sp>
        <p:nvSpPr>
          <p:cNvPr id="6" name="Text 4"/>
          <p:cNvSpPr/>
          <p:nvPr/>
        </p:nvSpPr>
        <p:spPr>
          <a:xfrm>
            <a:off x="868680" y="2057400"/>
            <a:ext cx="4617720" cy="3337560"/>
          </a:xfrm>
          <a:prstGeom prst="rect">
            <a:avLst/>
          </a:prstGeom>
          <a:noFill/>
          <a:ln/>
        </p:spPr>
        <p:txBody>
          <a:bodyPr wrap="square" lIns="508" tIns="508" rIns="508" bIns="508" rtlCol="0" anchor="ctr">
            <a:normAutofit/>
          </a:bodyPr>
          <a:lstStyle/>
          <a:p>
            <a:pPr indent="0" marL="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"case_id": "coding-01-weak",</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"status": "completed | failed",</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"overall_score": 0..100,</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"hallucination_risk": "low|medium|high",</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"quality_level":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"expectation": { "pass": true|false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"judge": { "model": "...", "latency_ms": 0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"deterministic": { "version": "..."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"error": null | { "code": "...", "detail": "..."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Shape 5"/>
          <p:cNvSpPr/>
          <p:nvPr/>
        </p:nvSpPr>
        <p:spPr>
          <a:xfrm>
            <a:off x="6217920" y="1417320"/>
            <a:ext cx="5303520" cy="4526280"/>
          </a:xfrm>
          <a:prstGeom prst="roundRect">
            <a:avLst>
              <a:gd name="adj" fmla="val 1616"/>
            </a:avLst>
          </a:prstGeom>
          <a:solidFill>
            <a:srgbClr val="FFFFFF"/>
          </a:solidFill>
          <a:ln w="10160">
            <a:solidFill>
              <a:srgbClr val="D8DEE8"/>
            </a:solidFill>
            <a:prstDash val="solid"/>
          </a:ln>
        </p:spPr>
      </p:sp>
      <p:sp>
        <p:nvSpPr>
          <p:cNvPr id="8" name="Text 6"/>
          <p:cNvSpPr/>
          <p:nvPr/>
        </p:nvSpPr>
        <p:spPr>
          <a:xfrm>
            <a:off x="6492240" y="1691640"/>
            <a:ext cx="2468880" cy="228600"/>
          </a:xfrm>
          <a:prstGeom prst="rect">
            <a:avLst/>
          </a:prstGeom>
          <a:noFill/>
          <a:ln/>
        </p:spPr>
        <p:txBody>
          <a:bodyPr wrap="square" lIns="0" tIns="0" rIns="0" bIns="0" rtlCol="0" anchor="ctr"/>
          <a:lstStyle/>
          <a:p>
            <a:pPr indent="0" marL="0">
              <a:buNone/>
            </a:pPr>
            <a:r>
              <a:rPr lang="en-US" sz="1000" b="1" spc="100" kern="0" dirty="0">
                <a:solidFill>
                  <a:srgbClr val="2563EB"/>
                </a:solidFill>
              </a:rPr>
              <a:t>COMPLETION INVARIANTS</a:t>
            </a:r>
            <a:endParaRPr lang="en-US" sz="1000" dirty="0"/>
          </a:p>
        </p:txBody>
      </p:sp>
      <p:sp>
        <p:nvSpPr>
          <p:cNvPr id="9" name="Shape 7"/>
          <p:cNvSpPr/>
          <p:nvPr/>
        </p:nvSpPr>
        <p:spPr>
          <a:xfrm>
            <a:off x="6510528" y="2084832"/>
            <a:ext cx="201168" cy="201168"/>
          </a:xfrm>
          <a:prstGeom prst="ellipse">
            <a:avLst/>
          </a:prstGeom>
          <a:solidFill>
            <a:srgbClr val="DBEAFE"/>
          </a:solidFill>
          <a:ln w="12700">
            <a:solidFill>
              <a:srgbClr val="93C5FD"/>
            </a:solidFill>
            <a:prstDash val="solid"/>
          </a:ln>
        </p:spPr>
      </p:sp>
      <p:sp>
        <p:nvSpPr>
          <p:cNvPr id="10" name="Text 8"/>
          <p:cNvSpPr/>
          <p:nvPr/>
        </p:nvSpPr>
        <p:spPr>
          <a:xfrm>
            <a:off x="6537960" y="2112264"/>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11" name="Text 9"/>
          <p:cNvSpPr/>
          <p:nvPr/>
        </p:nvSpPr>
        <p:spPr>
          <a:xfrm>
            <a:off x="6839712" y="2057400"/>
            <a:ext cx="4206240" cy="256032"/>
          </a:xfrm>
          <a:prstGeom prst="rect">
            <a:avLst/>
          </a:prstGeom>
          <a:noFill/>
          <a:ln/>
        </p:spPr>
        <p:txBody>
          <a:bodyPr wrap="square" lIns="0" tIns="0" rIns="0" bIns="0" rtlCol="0" anchor="ctr"/>
          <a:lstStyle/>
          <a:p>
            <a:pPr indent="0" marL="0">
              <a:buNone/>
            </a:pPr>
            <a:r>
              <a:rPr lang="en-US" sz="1050" dirty="0">
                <a:solidFill>
                  <a:srgbClr val="0F172A"/>
                </a:solidFill>
              </a:rPr>
              <a:t>case_count_returned == case_count_submitted</a:t>
            </a:r>
            <a:endParaRPr lang="en-US" sz="1050" dirty="0"/>
          </a:p>
        </p:txBody>
      </p:sp>
      <p:sp>
        <p:nvSpPr>
          <p:cNvPr id="12" name="Shape 10"/>
          <p:cNvSpPr/>
          <p:nvPr/>
        </p:nvSpPr>
        <p:spPr>
          <a:xfrm>
            <a:off x="6510528" y="2532888"/>
            <a:ext cx="201168" cy="201168"/>
          </a:xfrm>
          <a:prstGeom prst="ellipse">
            <a:avLst/>
          </a:prstGeom>
          <a:solidFill>
            <a:srgbClr val="DBEAFE"/>
          </a:solidFill>
          <a:ln w="12700">
            <a:solidFill>
              <a:srgbClr val="93C5FD"/>
            </a:solidFill>
            <a:prstDash val="solid"/>
          </a:ln>
        </p:spPr>
      </p:sp>
      <p:sp>
        <p:nvSpPr>
          <p:cNvPr id="13" name="Text 11"/>
          <p:cNvSpPr/>
          <p:nvPr/>
        </p:nvSpPr>
        <p:spPr>
          <a:xfrm>
            <a:off x="6537960" y="2560320"/>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14" name="Text 12"/>
          <p:cNvSpPr/>
          <p:nvPr/>
        </p:nvSpPr>
        <p:spPr>
          <a:xfrm>
            <a:off x="6839712" y="2505456"/>
            <a:ext cx="4206240" cy="256032"/>
          </a:xfrm>
          <a:prstGeom prst="rect">
            <a:avLst/>
          </a:prstGeom>
          <a:noFill/>
          <a:ln/>
        </p:spPr>
        <p:txBody>
          <a:bodyPr wrap="square" lIns="0" tIns="0" rIns="0" bIns="0" rtlCol="0" anchor="ctr"/>
          <a:lstStyle/>
          <a:p>
            <a:pPr indent="0" marL="0">
              <a:buNone/>
            </a:pPr>
            <a:r>
              <a:rPr lang="en-US" sz="1050" dirty="0">
                <a:solidFill>
                  <a:srgbClr val="0F172A"/>
                </a:solidFill>
              </a:rPr>
              <a:t>every case_id is unique and expected</a:t>
            </a:r>
            <a:endParaRPr lang="en-US" sz="1050" dirty="0"/>
          </a:p>
        </p:txBody>
      </p:sp>
      <p:sp>
        <p:nvSpPr>
          <p:cNvPr id="15" name="Shape 13"/>
          <p:cNvSpPr/>
          <p:nvPr/>
        </p:nvSpPr>
        <p:spPr>
          <a:xfrm>
            <a:off x="6510528" y="2980944"/>
            <a:ext cx="201168" cy="201168"/>
          </a:xfrm>
          <a:prstGeom prst="ellipse">
            <a:avLst/>
          </a:prstGeom>
          <a:solidFill>
            <a:srgbClr val="DBEAFE"/>
          </a:solidFill>
          <a:ln w="12700">
            <a:solidFill>
              <a:srgbClr val="93C5FD"/>
            </a:solidFill>
            <a:prstDash val="solid"/>
          </a:ln>
        </p:spPr>
      </p:sp>
      <p:sp>
        <p:nvSpPr>
          <p:cNvPr id="16" name="Text 14"/>
          <p:cNvSpPr/>
          <p:nvPr/>
        </p:nvSpPr>
        <p:spPr>
          <a:xfrm>
            <a:off x="6537960" y="3008376"/>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17" name="Text 15"/>
          <p:cNvSpPr/>
          <p:nvPr/>
        </p:nvSpPr>
        <p:spPr>
          <a:xfrm>
            <a:off x="6839712" y="2953512"/>
            <a:ext cx="4206240" cy="256032"/>
          </a:xfrm>
          <a:prstGeom prst="rect">
            <a:avLst/>
          </a:prstGeom>
          <a:noFill/>
          <a:ln/>
        </p:spPr>
        <p:txBody>
          <a:bodyPr wrap="square" lIns="0" tIns="0" rIns="0" bIns="0" rtlCol="0" anchor="ctr"/>
          <a:lstStyle/>
          <a:p>
            <a:pPr indent="0" marL="0">
              <a:buNone/>
            </a:pPr>
            <a:r>
              <a:rPr lang="en-US" sz="1050" dirty="0">
                <a:solidFill>
                  <a:srgbClr val="0F172A"/>
                </a:solidFill>
              </a:rPr>
              <a:t>each case has terminal status</a:t>
            </a:r>
            <a:endParaRPr lang="en-US" sz="1050" dirty="0"/>
          </a:p>
        </p:txBody>
      </p:sp>
      <p:sp>
        <p:nvSpPr>
          <p:cNvPr id="18" name="Shape 16"/>
          <p:cNvSpPr/>
          <p:nvPr/>
        </p:nvSpPr>
        <p:spPr>
          <a:xfrm>
            <a:off x="6510528" y="3429000"/>
            <a:ext cx="201168" cy="201168"/>
          </a:xfrm>
          <a:prstGeom prst="ellipse">
            <a:avLst/>
          </a:prstGeom>
          <a:solidFill>
            <a:srgbClr val="DBEAFE"/>
          </a:solidFill>
          <a:ln w="12700">
            <a:solidFill>
              <a:srgbClr val="93C5FD"/>
            </a:solidFill>
            <a:prstDash val="solid"/>
          </a:ln>
        </p:spPr>
      </p:sp>
      <p:sp>
        <p:nvSpPr>
          <p:cNvPr id="19" name="Text 17"/>
          <p:cNvSpPr/>
          <p:nvPr/>
        </p:nvSpPr>
        <p:spPr>
          <a:xfrm>
            <a:off x="6537960" y="3456432"/>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20" name="Text 18"/>
          <p:cNvSpPr/>
          <p:nvPr/>
        </p:nvSpPr>
        <p:spPr>
          <a:xfrm>
            <a:off x="6839712" y="3401568"/>
            <a:ext cx="4206240" cy="256032"/>
          </a:xfrm>
          <a:prstGeom prst="rect">
            <a:avLst/>
          </a:prstGeom>
          <a:noFill/>
          <a:ln/>
        </p:spPr>
        <p:txBody>
          <a:bodyPr wrap="square" lIns="0" tIns="0" rIns="0" bIns="0" rtlCol="0" anchor="ctr"/>
          <a:lstStyle/>
          <a:p>
            <a:pPr indent="0" marL="0">
              <a:buNone/>
            </a:pPr>
            <a:r>
              <a:rPr lang="en-US" sz="1050" dirty="0">
                <a:solidFill>
                  <a:srgbClr val="0F172A"/>
                </a:solidFill>
              </a:rPr>
              <a:t>completed case ⇒ score/risk/expectation present</a:t>
            </a:r>
            <a:endParaRPr lang="en-US" sz="1050" dirty="0"/>
          </a:p>
        </p:txBody>
      </p:sp>
      <p:sp>
        <p:nvSpPr>
          <p:cNvPr id="21" name="Shape 19"/>
          <p:cNvSpPr/>
          <p:nvPr/>
        </p:nvSpPr>
        <p:spPr>
          <a:xfrm>
            <a:off x="6510528" y="3877056"/>
            <a:ext cx="201168" cy="201168"/>
          </a:xfrm>
          <a:prstGeom prst="ellipse">
            <a:avLst/>
          </a:prstGeom>
          <a:solidFill>
            <a:srgbClr val="DBEAFE"/>
          </a:solidFill>
          <a:ln w="12700">
            <a:solidFill>
              <a:srgbClr val="93C5FD"/>
            </a:solidFill>
            <a:prstDash val="solid"/>
          </a:ln>
        </p:spPr>
      </p:sp>
      <p:sp>
        <p:nvSpPr>
          <p:cNvPr id="22" name="Text 20"/>
          <p:cNvSpPr/>
          <p:nvPr/>
        </p:nvSpPr>
        <p:spPr>
          <a:xfrm>
            <a:off x="6537960" y="3904488"/>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23" name="Text 21"/>
          <p:cNvSpPr/>
          <p:nvPr/>
        </p:nvSpPr>
        <p:spPr>
          <a:xfrm>
            <a:off x="6839712" y="3849624"/>
            <a:ext cx="4206240" cy="256032"/>
          </a:xfrm>
          <a:prstGeom prst="rect">
            <a:avLst/>
          </a:prstGeom>
          <a:noFill/>
          <a:ln/>
        </p:spPr>
        <p:txBody>
          <a:bodyPr wrap="square" lIns="0" tIns="0" rIns="0" bIns="0" rtlCol="0" anchor="ctr"/>
          <a:lstStyle/>
          <a:p>
            <a:pPr indent="0" marL="0">
              <a:buNone/>
            </a:pPr>
            <a:r>
              <a:rPr lang="en-US" sz="1050" dirty="0">
                <a:solidFill>
                  <a:srgbClr val="0F172A"/>
                </a:solidFill>
              </a:rPr>
              <a:t>failed case ⇒ structured error present</a:t>
            </a:r>
            <a:endParaRPr lang="en-US" sz="1050" dirty="0"/>
          </a:p>
        </p:txBody>
      </p:sp>
      <p:sp>
        <p:nvSpPr>
          <p:cNvPr id="24" name="Shape 22"/>
          <p:cNvSpPr/>
          <p:nvPr/>
        </p:nvSpPr>
        <p:spPr>
          <a:xfrm>
            <a:off x="6510528" y="4325112"/>
            <a:ext cx="201168" cy="201168"/>
          </a:xfrm>
          <a:prstGeom prst="ellipse">
            <a:avLst/>
          </a:prstGeom>
          <a:solidFill>
            <a:srgbClr val="DBEAFE"/>
          </a:solidFill>
          <a:ln w="12700">
            <a:solidFill>
              <a:srgbClr val="93C5FD"/>
            </a:solidFill>
            <a:prstDash val="solid"/>
          </a:ln>
        </p:spPr>
      </p:sp>
      <p:sp>
        <p:nvSpPr>
          <p:cNvPr id="25" name="Text 23"/>
          <p:cNvSpPr/>
          <p:nvPr/>
        </p:nvSpPr>
        <p:spPr>
          <a:xfrm>
            <a:off x="6537960" y="4352544"/>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26" name="Text 24"/>
          <p:cNvSpPr/>
          <p:nvPr/>
        </p:nvSpPr>
        <p:spPr>
          <a:xfrm>
            <a:off x="6839712" y="4297680"/>
            <a:ext cx="4206240" cy="256032"/>
          </a:xfrm>
          <a:prstGeom prst="rect">
            <a:avLst/>
          </a:prstGeom>
          <a:noFill/>
          <a:ln/>
        </p:spPr>
        <p:txBody>
          <a:bodyPr wrap="square" lIns="0" tIns="0" rIns="0" bIns="0" rtlCol="0" anchor="ctr"/>
          <a:lstStyle/>
          <a:p>
            <a:pPr indent="0" marL="0">
              <a:buNone/>
            </a:pPr>
            <a:r>
              <a:rPr lang="en-US" sz="1050" dirty="0">
                <a:solidFill>
                  <a:srgbClr val="0F172A"/>
                </a:solidFill>
              </a:rPr>
              <a:t>batch COMPLETE only when all cases satisfy contract</a:t>
            </a:r>
            <a:endParaRPr lang="en-US" sz="1050" dirty="0"/>
          </a:p>
        </p:txBody>
      </p:sp>
      <p:sp>
        <p:nvSpPr>
          <p:cNvPr id="27" name="Shape 25"/>
          <p:cNvSpPr/>
          <p:nvPr/>
        </p:nvSpPr>
        <p:spPr>
          <a:xfrm>
            <a:off x="6510528" y="4773168"/>
            <a:ext cx="201168" cy="201168"/>
          </a:xfrm>
          <a:prstGeom prst="ellipse">
            <a:avLst/>
          </a:prstGeom>
          <a:solidFill>
            <a:srgbClr val="DBEAFE"/>
          </a:solidFill>
          <a:ln w="12700">
            <a:solidFill>
              <a:srgbClr val="93C5FD"/>
            </a:solidFill>
            <a:prstDash val="solid"/>
          </a:ln>
        </p:spPr>
      </p:sp>
      <p:sp>
        <p:nvSpPr>
          <p:cNvPr id="28" name="Text 26"/>
          <p:cNvSpPr/>
          <p:nvPr/>
        </p:nvSpPr>
        <p:spPr>
          <a:xfrm>
            <a:off x="6537960" y="4800600"/>
            <a:ext cx="146304" cy="91440"/>
          </a:xfrm>
          <a:prstGeom prst="rect">
            <a:avLst/>
          </a:prstGeom>
          <a:noFill/>
          <a:ln/>
        </p:spPr>
        <p:txBody>
          <a:bodyPr wrap="square" lIns="0" tIns="0" rIns="0" bIns="0" rtlCol="0" anchor="ctr"/>
          <a:lstStyle/>
          <a:p>
            <a:pPr algn="ctr" indent="0" marL="0">
              <a:buNone/>
            </a:pPr>
            <a:r>
              <a:rPr lang="en-US" sz="700" b="1" dirty="0">
                <a:solidFill>
                  <a:srgbClr val="2563EB"/>
                </a:solidFill>
              </a:rPr>
              <a:t>✓</a:t>
            </a:r>
            <a:endParaRPr lang="en-US" sz="700" dirty="0"/>
          </a:p>
        </p:txBody>
      </p:sp>
      <p:sp>
        <p:nvSpPr>
          <p:cNvPr id="29" name="Text 27"/>
          <p:cNvSpPr/>
          <p:nvPr/>
        </p:nvSpPr>
        <p:spPr>
          <a:xfrm>
            <a:off x="6839712" y="4745736"/>
            <a:ext cx="4206240" cy="256032"/>
          </a:xfrm>
          <a:prstGeom prst="rect">
            <a:avLst/>
          </a:prstGeom>
          <a:noFill/>
          <a:ln/>
        </p:spPr>
        <p:txBody>
          <a:bodyPr wrap="square" lIns="0" tIns="0" rIns="0" bIns="0" rtlCol="0" anchor="ctr"/>
          <a:lstStyle/>
          <a:p>
            <a:pPr indent="0" marL="0">
              <a:buNone/>
            </a:pPr>
            <a:r>
              <a:rPr lang="en-US" sz="1050" dirty="0">
                <a:solidFill>
                  <a:srgbClr val="0F172A"/>
                </a:solidFill>
              </a:rPr>
              <a:t>report generation rejects invalid normalized state</a:t>
            </a:r>
            <a:endParaRPr lang="en-US" sz="1050" dirty="0"/>
          </a:p>
        </p:txBody>
      </p:sp>
      <p:sp>
        <p:nvSpPr>
          <p:cNvPr id="30" name="Shape 28"/>
          <p:cNvSpPr/>
          <p:nvPr/>
        </p:nvSpPr>
        <p:spPr>
          <a:xfrm>
            <a:off x="6492240" y="5394960"/>
            <a:ext cx="4343400" cy="274320"/>
          </a:xfrm>
          <a:prstGeom prst="roundRect">
            <a:avLst/>
          </a:prstGeom>
          <a:solidFill>
            <a:srgbClr val="DC2626"/>
          </a:solidFill>
          <a:ln w="12700">
            <a:solidFill>
              <a:srgbClr val="DC2626"/>
            </a:solidFill>
            <a:prstDash val="solid"/>
          </a:ln>
        </p:spPr>
      </p:sp>
      <p:sp>
        <p:nvSpPr>
          <p:cNvPr id="31" name="Text 29"/>
          <p:cNvSpPr/>
          <p:nvPr/>
        </p:nvSpPr>
        <p:spPr>
          <a:xfrm>
            <a:off x="6537960" y="5445252"/>
            <a:ext cx="4251960" cy="137160"/>
          </a:xfrm>
          <a:prstGeom prst="rect">
            <a:avLst/>
          </a:prstGeom>
          <a:noFill/>
          <a:ln/>
        </p:spPr>
        <p:txBody>
          <a:bodyPr wrap="square" lIns="0" tIns="0" rIns="0" bIns="0" rtlCol="0" anchor="ctr"/>
          <a:lstStyle/>
          <a:p>
            <a:pPr algn="ctr" indent="0" marL="0">
              <a:buNone/>
            </a:pPr>
            <a:r>
              <a:rPr lang="en-US" sz="800" b="1" dirty="0">
                <a:solidFill>
                  <a:srgbClr val="FFFFFF"/>
                </a:solidFill>
              </a:rPr>
              <a:t>NO SILENT N/A VALUES IN A “COMPLETE” RUN</a:t>
            </a:r>
            <a:endParaRPr lang="en-US" sz="8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Observability model: instrument the benchmark as a distributed transaction</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Measure latency and correctness at each stage; preserve correlation IDs from CLI through judge response.</a:t>
            </a:r>
            <a:endParaRPr lang="en-US" sz="1150" dirty="0"/>
          </a:p>
        </p:txBody>
      </p:sp>
      <p:sp>
        <p:nvSpPr>
          <p:cNvPr id="4" name="Shape 2"/>
          <p:cNvSpPr/>
          <p:nvPr/>
        </p:nvSpPr>
        <p:spPr>
          <a:xfrm>
            <a:off x="685800" y="1874520"/>
            <a:ext cx="475488" cy="475488"/>
          </a:xfrm>
          <a:prstGeom prst="ellipse">
            <a:avLst/>
          </a:prstGeom>
          <a:solidFill>
            <a:srgbClr val="2563EB"/>
          </a:solidFill>
          <a:ln w="12700">
            <a:solidFill>
              <a:srgbClr val="2563EB"/>
            </a:solidFill>
            <a:prstDash val="solid"/>
          </a:ln>
        </p:spPr>
      </p:sp>
      <p:sp>
        <p:nvSpPr>
          <p:cNvPr id="5" name="Text 3"/>
          <p:cNvSpPr/>
          <p:nvPr/>
        </p:nvSpPr>
        <p:spPr>
          <a:xfrm>
            <a:off x="6858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t0</a:t>
            </a:r>
            <a:endParaRPr lang="en-US" sz="700" dirty="0"/>
          </a:p>
        </p:txBody>
      </p:sp>
      <p:sp>
        <p:nvSpPr>
          <p:cNvPr id="6" name="Text 4"/>
          <p:cNvSpPr/>
          <p:nvPr/>
        </p:nvSpPr>
        <p:spPr>
          <a:xfrm>
            <a:off x="4114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Submit</a:t>
            </a:r>
            <a:endParaRPr lang="en-US" sz="950" dirty="0"/>
          </a:p>
        </p:txBody>
      </p:sp>
      <p:sp>
        <p:nvSpPr>
          <p:cNvPr id="7" name="Shape 5"/>
          <p:cNvSpPr/>
          <p:nvPr/>
        </p:nvSpPr>
        <p:spPr>
          <a:xfrm>
            <a:off x="1188720" y="2112264"/>
            <a:ext cx="1005840" cy="0"/>
          </a:xfrm>
          <a:prstGeom prst="line">
            <a:avLst/>
          </a:prstGeom>
          <a:noFill/>
          <a:ln w="22860">
            <a:solidFill>
              <a:srgbClr val="475569"/>
            </a:solidFill>
            <a:prstDash val="solid"/>
            <a:headEnd type="none"/>
            <a:tailEnd type="triangle"/>
          </a:ln>
        </p:spPr>
      </p:sp>
      <p:sp>
        <p:nvSpPr>
          <p:cNvPr id="8" name="Shape 6"/>
          <p:cNvSpPr/>
          <p:nvPr/>
        </p:nvSpPr>
        <p:spPr>
          <a:xfrm>
            <a:off x="2286000" y="1874520"/>
            <a:ext cx="475488" cy="475488"/>
          </a:xfrm>
          <a:prstGeom prst="ellipse">
            <a:avLst/>
          </a:prstGeom>
          <a:solidFill>
            <a:srgbClr val="2563EB"/>
          </a:solidFill>
          <a:ln w="12700">
            <a:solidFill>
              <a:srgbClr val="2563EB"/>
            </a:solidFill>
            <a:prstDash val="solid"/>
          </a:ln>
        </p:spPr>
      </p:sp>
      <p:sp>
        <p:nvSpPr>
          <p:cNvPr id="9" name="Text 7"/>
          <p:cNvSpPr/>
          <p:nvPr/>
        </p:nvSpPr>
        <p:spPr>
          <a:xfrm>
            <a:off x="22860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t1</a:t>
            </a:r>
            <a:endParaRPr lang="en-US" sz="700" dirty="0"/>
          </a:p>
        </p:txBody>
      </p:sp>
      <p:sp>
        <p:nvSpPr>
          <p:cNvPr id="10" name="Text 8"/>
          <p:cNvSpPr/>
          <p:nvPr/>
        </p:nvSpPr>
        <p:spPr>
          <a:xfrm>
            <a:off x="20116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Accepted</a:t>
            </a:r>
            <a:endParaRPr lang="en-US" sz="950" dirty="0"/>
          </a:p>
        </p:txBody>
      </p:sp>
      <p:sp>
        <p:nvSpPr>
          <p:cNvPr id="11" name="Shape 9"/>
          <p:cNvSpPr/>
          <p:nvPr/>
        </p:nvSpPr>
        <p:spPr>
          <a:xfrm>
            <a:off x="2788920" y="2112264"/>
            <a:ext cx="1005840" cy="0"/>
          </a:xfrm>
          <a:prstGeom prst="line">
            <a:avLst/>
          </a:prstGeom>
          <a:noFill/>
          <a:ln w="22860">
            <a:solidFill>
              <a:srgbClr val="475569"/>
            </a:solidFill>
            <a:prstDash val="solid"/>
            <a:headEnd type="none"/>
            <a:tailEnd type="triangle"/>
          </a:ln>
        </p:spPr>
      </p:sp>
      <p:sp>
        <p:nvSpPr>
          <p:cNvPr id="12" name="Shape 10"/>
          <p:cNvSpPr/>
          <p:nvPr/>
        </p:nvSpPr>
        <p:spPr>
          <a:xfrm>
            <a:off x="3886200" y="1874520"/>
            <a:ext cx="475488" cy="475488"/>
          </a:xfrm>
          <a:prstGeom prst="ellipse">
            <a:avLst/>
          </a:prstGeom>
          <a:solidFill>
            <a:srgbClr val="0891B2"/>
          </a:solidFill>
          <a:ln w="12700">
            <a:solidFill>
              <a:srgbClr val="0891B2"/>
            </a:solidFill>
            <a:prstDash val="solid"/>
          </a:ln>
        </p:spPr>
      </p:sp>
      <p:sp>
        <p:nvSpPr>
          <p:cNvPr id="13" name="Text 11"/>
          <p:cNvSpPr/>
          <p:nvPr/>
        </p:nvSpPr>
        <p:spPr>
          <a:xfrm>
            <a:off x="38862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t2</a:t>
            </a:r>
            <a:endParaRPr lang="en-US" sz="700" dirty="0"/>
          </a:p>
        </p:txBody>
      </p:sp>
      <p:sp>
        <p:nvSpPr>
          <p:cNvPr id="14" name="Text 12"/>
          <p:cNvSpPr/>
          <p:nvPr/>
        </p:nvSpPr>
        <p:spPr>
          <a:xfrm>
            <a:off x="36118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Judge sent</a:t>
            </a:r>
            <a:endParaRPr lang="en-US" sz="950" dirty="0"/>
          </a:p>
        </p:txBody>
      </p:sp>
      <p:sp>
        <p:nvSpPr>
          <p:cNvPr id="15" name="Shape 13"/>
          <p:cNvSpPr/>
          <p:nvPr/>
        </p:nvSpPr>
        <p:spPr>
          <a:xfrm>
            <a:off x="4389120" y="2112264"/>
            <a:ext cx="1005840" cy="0"/>
          </a:xfrm>
          <a:prstGeom prst="line">
            <a:avLst/>
          </a:prstGeom>
          <a:noFill/>
          <a:ln w="22860">
            <a:solidFill>
              <a:srgbClr val="475569"/>
            </a:solidFill>
            <a:prstDash val="solid"/>
            <a:headEnd type="none"/>
            <a:tailEnd type="triangle"/>
          </a:ln>
        </p:spPr>
      </p:sp>
      <p:sp>
        <p:nvSpPr>
          <p:cNvPr id="16" name="Shape 14"/>
          <p:cNvSpPr/>
          <p:nvPr/>
        </p:nvSpPr>
        <p:spPr>
          <a:xfrm>
            <a:off x="5486400" y="1874520"/>
            <a:ext cx="475488" cy="475488"/>
          </a:xfrm>
          <a:prstGeom prst="ellipse">
            <a:avLst/>
          </a:prstGeom>
          <a:solidFill>
            <a:srgbClr val="0891B2"/>
          </a:solidFill>
          <a:ln w="12700">
            <a:solidFill>
              <a:srgbClr val="0891B2"/>
            </a:solidFill>
            <a:prstDash val="solid"/>
          </a:ln>
        </p:spPr>
      </p:sp>
      <p:sp>
        <p:nvSpPr>
          <p:cNvPr id="17" name="Text 15"/>
          <p:cNvSpPr/>
          <p:nvPr/>
        </p:nvSpPr>
        <p:spPr>
          <a:xfrm>
            <a:off x="54864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t3</a:t>
            </a:r>
            <a:endParaRPr lang="en-US" sz="700" dirty="0"/>
          </a:p>
        </p:txBody>
      </p:sp>
      <p:sp>
        <p:nvSpPr>
          <p:cNvPr id="18" name="Text 16"/>
          <p:cNvSpPr/>
          <p:nvPr/>
        </p:nvSpPr>
        <p:spPr>
          <a:xfrm>
            <a:off x="52120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Judge reply</a:t>
            </a:r>
            <a:endParaRPr lang="en-US" sz="950" dirty="0"/>
          </a:p>
        </p:txBody>
      </p:sp>
      <p:sp>
        <p:nvSpPr>
          <p:cNvPr id="19" name="Shape 17"/>
          <p:cNvSpPr/>
          <p:nvPr/>
        </p:nvSpPr>
        <p:spPr>
          <a:xfrm>
            <a:off x="5989320" y="2112264"/>
            <a:ext cx="1005840" cy="0"/>
          </a:xfrm>
          <a:prstGeom prst="line">
            <a:avLst/>
          </a:prstGeom>
          <a:noFill/>
          <a:ln w="22860">
            <a:solidFill>
              <a:srgbClr val="475569"/>
            </a:solidFill>
            <a:prstDash val="solid"/>
            <a:headEnd type="none"/>
            <a:tailEnd type="triangle"/>
          </a:ln>
        </p:spPr>
      </p:sp>
      <p:sp>
        <p:nvSpPr>
          <p:cNvPr id="20" name="Shape 18"/>
          <p:cNvSpPr/>
          <p:nvPr/>
        </p:nvSpPr>
        <p:spPr>
          <a:xfrm>
            <a:off x="7086600" y="1874520"/>
            <a:ext cx="475488" cy="475488"/>
          </a:xfrm>
          <a:prstGeom prst="ellipse">
            <a:avLst/>
          </a:prstGeom>
          <a:solidFill>
            <a:srgbClr val="D97706"/>
          </a:solidFill>
          <a:ln w="12700">
            <a:solidFill>
              <a:srgbClr val="D97706"/>
            </a:solidFill>
            <a:prstDash val="solid"/>
          </a:ln>
        </p:spPr>
      </p:sp>
      <p:sp>
        <p:nvSpPr>
          <p:cNvPr id="21" name="Text 19"/>
          <p:cNvSpPr/>
          <p:nvPr/>
        </p:nvSpPr>
        <p:spPr>
          <a:xfrm>
            <a:off x="70866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t4</a:t>
            </a:r>
            <a:endParaRPr lang="en-US" sz="700" dirty="0"/>
          </a:p>
        </p:txBody>
      </p:sp>
      <p:sp>
        <p:nvSpPr>
          <p:cNvPr id="22" name="Text 20"/>
          <p:cNvSpPr/>
          <p:nvPr/>
        </p:nvSpPr>
        <p:spPr>
          <a:xfrm>
            <a:off x="68122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Normalized</a:t>
            </a:r>
            <a:endParaRPr lang="en-US" sz="950" dirty="0"/>
          </a:p>
        </p:txBody>
      </p:sp>
      <p:sp>
        <p:nvSpPr>
          <p:cNvPr id="23" name="Shape 21"/>
          <p:cNvSpPr/>
          <p:nvPr/>
        </p:nvSpPr>
        <p:spPr>
          <a:xfrm>
            <a:off x="7589520" y="2112264"/>
            <a:ext cx="1005840" cy="0"/>
          </a:xfrm>
          <a:prstGeom prst="line">
            <a:avLst/>
          </a:prstGeom>
          <a:noFill/>
          <a:ln w="22860">
            <a:solidFill>
              <a:srgbClr val="475569"/>
            </a:solidFill>
            <a:prstDash val="solid"/>
            <a:headEnd type="none"/>
            <a:tailEnd type="triangle"/>
          </a:ln>
        </p:spPr>
      </p:sp>
      <p:sp>
        <p:nvSpPr>
          <p:cNvPr id="24" name="Shape 22"/>
          <p:cNvSpPr/>
          <p:nvPr/>
        </p:nvSpPr>
        <p:spPr>
          <a:xfrm>
            <a:off x="8686800" y="1874520"/>
            <a:ext cx="475488" cy="475488"/>
          </a:xfrm>
          <a:prstGeom prst="ellipse">
            <a:avLst/>
          </a:prstGeom>
          <a:solidFill>
            <a:srgbClr val="059669"/>
          </a:solidFill>
          <a:ln w="12700">
            <a:solidFill>
              <a:srgbClr val="059669"/>
            </a:solidFill>
            <a:prstDash val="solid"/>
          </a:ln>
        </p:spPr>
      </p:sp>
      <p:sp>
        <p:nvSpPr>
          <p:cNvPr id="25" name="Text 23"/>
          <p:cNvSpPr/>
          <p:nvPr/>
        </p:nvSpPr>
        <p:spPr>
          <a:xfrm>
            <a:off x="86868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t5</a:t>
            </a:r>
            <a:endParaRPr lang="en-US" sz="700" dirty="0"/>
          </a:p>
        </p:txBody>
      </p:sp>
      <p:sp>
        <p:nvSpPr>
          <p:cNvPr id="26" name="Text 24"/>
          <p:cNvSpPr/>
          <p:nvPr/>
        </p:nvSpPr>
        <p:spPr>
          <a:xfrm>
            <a:off x="84124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Persisted</a:t>
            </a:r>
            <a:endParaRPr lang="en-US" sz="950" dirty="0"/>
          </a:p>
        </p:txBody>
      </p:sp>
      <p:sp>
        <p:nvSpPr>
          <p:cNvPr id="27" name="Shape 25"/>
          <p:cNvSpPr/>
          <p:nvPr/>
        </p:nvSpPr>
        <p:spPr>
          <a:xfrm>
            <a:off x="9189720" y="2112264"/>
            <a:ext cx="1005840" cy="0"/>
          </a:xfrm>
          <a:prstGeom prst="line">
            <a:avLst/>
          </a:prstGeom>
          <a:noFill/>
          <a:ln w="22860">
            <a:solidFill>
              <a:srgbClr val="475569"/>
            </a:solidFill>
            <a:prstDash val="solid"/>
            <a:headEnd type="none"/>
            <a:tailEnd type="triangle"/>
          </a:ln>
        </p:spPr>
      </p:sp>
      <p:sp>
        <p:nvSpPr>
          <p:cNvPr id="28" name="Shape 26"/>
          <p:cNvSpPr/>
          <p:nvPr/>
        </p:nvSpPr>
        <p:spPr>
          <a:xfrm>
            <a:off x="10287000" y="1874520"/>
            <a:ext cx="475488" cy="475488"/>
          </a:xfrm>
          <a:prstGeom prst="ellipse">
            <a:avLst/>
          </a:prstGeom>
          <a:solidFill>
            <a:srgbClr val="059669"/>
          </a:solidFill>
          <a:ln w="12700">
            <a:solidFill>
              <a:srgbClr val="059669"/>
            </a:solidFill>
            <a:prstDash val="solid"/>
          </a:ln>
        </p:spPr>
      </p:sp>
      <p:sp>
        <p:nvSpPr>
          <p:cNvPr id="29" name="Text 27"/>
          <p:cNvSpPr/>
          <p:nvPr/>
        </p:nvSpPr>
        <p:spPr>
          <a:xfrm>
            <a:off x="10287000" y="2029968"/>
            <a:ext cx="475488" cy="109728"/>
          </a:xfrm>
          <a:prstGeom prst="rect">
            <a:avLst/>
          </a:prstGeom>
          <a:noFill/>
          <a:ln/>
        </p:spPr>
        <p:txBody>
          <a:bodyPr wrap="square" lIns="0" tIns="0" rIns="0" bIns="0" rtlCol="0" anchor="ctr"/>
          <a:lstStyle/>
          <a:p>
            <a:pPr algn="ctr" indent="0" marL="0">
              <a:buNone/>
            </a:pPr>
            <a:r>
              <a:rPr lang="en-US" sz="700" b="1" dirty="0">
                <a:solidFill>
                  <a:srgbClr val="FFFFFF"/>
                </a:solidFill>
              </a:rPr>
              <a:t>t6</a:t>
            </a:r>
            <a:endParaRPr lang="en-US" sz="700" dirty="0"/>
          </a:p>
        </p:txBody>
      </p:sp>
      <p:sp>
        <p:nvSpPr>
          <p:cNvPr id="30" name="Text 28"/>
          <p:cNvSpPr/>
          <p:nvPr/>
        </p:nvSpPr>
        <p:spPr>
          <a:xfrm>
            <a:off x="10012680" y="2487168"/>
            <a:ext cx="1005840" cy="228600"/>
          </a:xfrm>
          <a:prstGeom prst="rect">
            <a:avLst/>
          </a:prstGeom>
          <a:noFill/>
          <a:ln/>
        </p:spPr>
        <p:txBody>
          <a:bodyPr wrap="square" lIns="0" tIns="0" rIns="0" bIns="0" rtlCol="0" anchor="ctr"/>
          <a:lstStyle/>
          <a:p>
            <a:pPr algn="ctr" indent="0" marL="0">
              <a:buNone/>
            </a:pPr>
            <a:r>
              <a:rPr lang="en-US" sz="950" b="1" dirty="0">
                <a:solidFill>
                  <a:srgbClr val="0F172A"/>
                </a:solidFill>
              </a:rPr>
              <a:t>Reported</a:t>
            </a:r>
            <a:endParaRPr lang="en-US" sz="950" dirty="0"/>
          </a:p>
        </p:txBody>
      </p:sp>
      <p:sp>
        <p:nvSpPr>
          <p:cNvPr id="31" name="Shape 29"/>
          <p:cNvSpPr/>
          <p:nvPr/>
        </p:nvSpPr>
        <p:spPr>
          <a:xfrm>
            <a:off x="685800" y="3154680"/>
            <a:ext cx="10972800" cy="1965960"/>
          </a:xfrm>
          <a:prstGeom prst="roundRect">
            <a:avLst>
              <a:gd name="adj" fmla="val 3721"/>
            </a:avLst>
          </a:prstGeom>
          <a:solidFill>
            <a:srgbClr val="FFFFFF"/>
          </a:solidFill>
          <a:ln w="10160">
            <a:solidFill>
              <a:srgbClr val="D8DEE8"/>
            </a:solidFill>
            <a:prstDash val="solid"/>
          </a:ln>
        </p:spPr>
      </p:sp>
      <p:sp>
        <p:nvSpPr>
          <p:cNvPr id="32" name="Text 30"/>
          <p:cNvSpPr/>
          <p:nvPr/>
        </p:nvSpPr>
        <p:spPr>
          <a:xfrm>
            <a:off x="914400" y="3401568"/>
            <a:ext cx="2377440" cy="228600"/>
          </a:xfrm>
          <a:prstGeom prst="rect">
            <a:avLst/>
          </a:prstGeom>
          <a:noFill/>
          <a:ln/>
        </p:spPr>
        <p:txBody>
          <a:bodyPr wrap="square" lIns="0" tIns="0" rIns="0" bIns="0" rtlCol="0" anchor="ctr"/>
          <a:lstStyle/>
          <a:p>
            <a:pPr indent="0" marL="0">
              <a:buNone/>
            </a:pPr>
            <a:r>
              <a:rPr lang="en-US" sz="1100" b="1" dirty="0">
                <a:solidFill>
                  <a:srgbClr val="0F172A"/>
                </a:solidFill>
              </a:rPr>
              <a:t>Minimum telemetry per case</a:t>
            </a:r>
            <a:endParaRPr lang="en-US" sz="1100" dirty="0"/>
          </a:p>
        </p:txBody>
      </p:sp>
      <p:sp>
        <p:nvSpPr>
          <p:cNvPr id="33" name="Text 31"/>
          <p:cNvSpPr/>
          <p:nvPr/>
        </p:nvSpPr>
        <p:spPr>
          <a:xfrm>
            <a:off x="914400" y="3758184"/>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4" name="Text 32"/>
          <p:cNvSpPr/>
          <p:nvPr/>
        </p:nvSpPr>
        <p:spPr>
          <a:xfrm>
            <a:off x="1115568" y="3767328"/>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request_id / batch_id / case_id</a:t>
            </a:r>
            <a:endParaRPr lang="en-US" sz="1000" dirty="0"/>
          </a:p>
        </p:txBody>
      </p:sp>
      <p:sp>
        <p:nvSpPr>
          <p:cNvPr id="35" name="Text 33"/>
          <p:cNvSpPr/>
          <p:nvPr/>
        </p:nvSpPr>
        <p:spPr>
          <a:xfrm>
            <a:off x="6126480" y="3758184"/>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6" name="Text 34"/>
          <p:cNvSpPr/>
          <p:nvPr/>
        </p:nvSpPr>
        <p:spPr>
          <a:xfrm>
            <a:off x="6327648" y="3767328"/>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provider model + API status</a:t>
            </a:r>
            <a:endParaRPr lang="en-US" sz="1000" dirty="0"/>
          </a:p>
        </p:txBody>
      </p:sp>
      <p:sp>
        <p:nvSpPr>
          <p:cNvPr id="37" name="Text 35"/>
          <p:cNvSpPr/>
          <p:nvPr/>
        </p:nvSpPr>
        <p:spPr>
          <a:xfrm>
            <a:off x="914400" y="415137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38" name="Text 36"/>
          <p:cNvSpPr/>
          <p:nvPr/>
        </p:nvSpPr>
        <p:spPr>
          <a:xfrm>
            <a:off x="1115568" y="4160520"/>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deterministic_ms / judge_ms / total_ms</a:t>
            </a:r>
            <a:endParaRPr lang="en-US" sz="1000" dirty="0"/>
          </a:p>
        </p:txBody>
      </p:sp>
      <p:sp>
        <p:nvSpPr>
          <p:cNvPr id="39" name="Text 37"/>
          <p:cNvSpPr/>
          <p:nvPr/>
        </p:nvSpPr>
        <p:spPr>
          <a:xfrm>
            <a:off x="6126480" y="415137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40" name="Text 38"/>
          <p:cNvSpPr/>
          <p:nvPr/>
        </p:nvSpPr>
        <p:spPr>
          <a:xfrm>
            <a:off x="6327648" y="4160520"/>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raw response hash + normalized schema version</a:t>
            </a:r>
            <a:endParaRPr lang="en-US" sz="1000" dirty="0"/>
          </a:p>
        </p:txBody>
      </p:sp>
      <p:sp>
        <p:nvSpPr>
          <p:cNvPr id="41" name="Text 39"/>
          <p:cNvSpPr/>
          <p:nvPr/>
        </p:nvSpPr>
        <p:spPr>
          <a:xfrm>
            <a:off x="914400" y="4544568"/>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42" name="Text 40"/>
          <p:cNvSpPr/>
          <p:nvPr/>
        </p:nvSpPr>
        <p:spPr>
          <a:xfrm>
            <a:off x="1115568" y="4553712"/>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retry_count + terminal error code</a:t>
            </a:r>
            <a:endParaRPr lang="en-US" sz="1000" dirty="0"/>
          </a:p>
        </p:txBody>
      </p:sp>
      <p:sp>
        <p:nvSpPr>
          <p:cNvPr id="43" name="Text 41"/>
          <p:cNvSpPr/>
          <p:nvPr/>
        </p:nvSpPr>
        <p:spPr>
          <a:xfrm>
            <a:off x="6126480" y="4544568"/>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44" name="Text 42"/>
          <p:cNvSpPr/>
          <p:nvPr/>
        </p:nvSpPr>
        <p:spPr>
          <a:xfrm>
            <a:off x="6327648" y="4553712"/>
            <a:ext cx="4645152" cy="347472"/>
          </a:xfrm>
          <a:prstGeom prst="rect">
            <a:avLst/>
          </a:prstGeom>
          <a:noFill/>
          <a:ln/>
        </p:spPr>
        <p:txBody>
          <a:bodyPr wrap="square" lIns="0" tIns="0" rIns="0" bIns="0" rtlCol="0" anchor="ctr">
            <a:normAutofit/>
          </a:bodyPr>
          <a:lstStyle/>
          <a:p>
            <a:pPr indent="0" marL="0">
              <a:buNone/>
            </a:pPr>
            <a:r>
              <a:rPr lang="en-US" sz="1000" dirty="0">
                <a:solidFill>
                  <a:srgbClr val="475569"/>
                </a:solidFill>
              </a:rPr>
              <a:t>token/cost envelope where available</a:t>
            </a:r>
            <a:endParaRPr lang="en-US" sz="1000" dirty="0"/>
          </a:p>
        </p:txBody>
      </p:sp>
      <p:sp>
        <p:nvSpPr>
          <p:cNvPr id="45" name="Shape 43"/>
          <p:cNvSpPr/>
          <p:nvPr/>
        </p:nvSpPr>
        <p:spPr>
          <a:xfrm>
            <a:off x="822960" y="5440680"/>
            <a:ext cx="1920240" cy="274320"/>
          </a:xfrm>
          <a:prstGeom prst="roundRect">
            <a:avLst/>
          </a:prstGeom>
          <a:solidFill>
            <a:srgbClr val="2563EB"/>
          </a:solidFill>
          <a:ln w="12700">
            <a:solidFill>
              <a:srgbClr val="2563EB"/>
            </a:solidFill>
            <a:prstDash val="solid"/>
          </a:ln>
        </p:spPr>
      </p:sp>
      <p:sp>
        <p:nvSpPr>
          <p:cNvPr id="46" name="Text 44"/>
          <p:cNvSpPr/>
          <p:nvPr/>
        </p:nvSpPr>
        <p:spPr>
          <a:xfrm>
            <a:off x="868680" y="5490972"/>
            <a:ext cx="1828800" cy="137160"/>
          </a:xfrm>
          <a:prstGeom prst="rect">
            <a:avLst/>
          </a:prstGeom>
          <a:noFill/>
          <a:ln/>
        </p:spPr>
        <p:txBody>
          <a:bodyPr wrap="square" lIns="0" tIns="0" rIns="0" bIns="0" rtlCol="0" anchor="ctr"/>
          <a:lstStyle/>
          <a:p>
            <a:pPr algn="ctr" indent="0" marL="0">
              <a:buNone/>
            </a:pPr>
            <a:r>
              <a:rPr lang="en-US" sz="800" b="1" dirty="0">
                <a:solidFill>
                  <a:srgbClr val="FFFFFF"/>
                </a:solidFill>
              </a:rPr>
              <a:t>SLO: RESULT COMPLETENESS</a:t>
            </a:r>
            <a:endParaRPr lang="en-US" sz="800" dirty="0"/>
          </a:p>
        </p:txBody>
      </p:sp>
      <p:sp>
        <p:nvSpPr>
          <p:cNvPr id="47" name="Text 45"/>
          <p:cNvSpPr/>
          <p:nvPr/>
        </p:nvSpPr>
        <p:spPr>
          <a:xfrm>
            <a:off x="2971800" y="5468112"/>
            <a:ext cx="8138160" cy="256032"/>
          </a:xfrm>
          <a:prstGeom prst="rect">
            <a:avLst/>
          </a:prstGeom>
          <a:noFill/>
          <a:ln/>
        </p:spPr>
        <p:txBody>
          <a:bodyPr wrap="square" lIns="0" tIns="0" rIns="0" bIns="0" rtlCol="0" anchor="ctr"/>
          <a:lstStyle/>
          <a:p>
            <a:pPr indent="0" marL="0">
              <a:buNone/>
            </a:pPr>
            <a:r>
              <a:rPr lang="en-US" sz="1150" b="1" dirty="0">
                <a:solidFill>
                  <a:srgbClr val="0F172A"/>
                </a:solidFill>
              </a:rPr>
              <a:t>Target: 100% of terminal cases have either a valid result contract or a structured error; never blank fields.</a:t>
            </a:r>
            <a:endParaRPr lang="en-US" sz="115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Benchmark validity model: four gates before results are publishable</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The current run passes only the first gate based on the supplied artifact.</a:t>
            </a:r>
            <a:endParaRPr lang="en-US" sz="1150" dirty="0"/>
          </a:p>
        </p:txBody>
      </p:sp>
      <p:sp>
        <p:nvSpPr>
          <p:cNvPr id="4" name="Shape 2"/>
          <p:cNvSpPr/>
          <p:nvPr/>
        </p:nvSpPr>
        <p:spPr>
          <a:xfrm>
            <a:off x="640080" y="1600200"/>
            <a:ext cx="2468880" cy="3383280"/>
          </a:xfrm>
          <a:prstGeom prst="roundRect">
            <a:avLst>
              <a:gd name="adj" fmla="val 2963"/>
            </a:avLst>
          </a:prstGeom>
          <a:solidFill>
            <a:srgbClr val="FFFFFF"/>
          </a:solidFill>
          <a:ln w="10160">
            <a:solidFill>
              <a:srgbClr val="D8DEE8"/>
            </a:solidFill>
            <a:prstDash val="solid"/>
          </a:ln>
        </p:spPr>
      </p:sp>
      <p:sp>
        <p:nvSpPr>
          <p:cNvPr id="5" name="Text 3"/>
          <p:cNvSpPr/>
          <p:nvPr/>
        </p:nvSpPr>
        <p:spPr>
          <a:xfrm>
            <a:off x="822960" y="1828800"/>
            <a:ext cx="411480" cy="411480"/>
          </a:xfrm>
          <a:prstGeom prst="rect">
            <a:avLst/>
          </a:prstGeom>
          <a:noFill/>
          <a:ln/>
        </p:spPr>
        <p:txBody>
          <a:bodyPr wrap="square" lIns="0" tIns="0" rIns="0" bIns="0" rtlCol="0" anchor="ctr"/>
          <a:lstStyle/>
          <a:p>
            <a:pPr indent="0" marL="0">
              <a:buNone/>
            </a:pPr>
            <a:r>
              <a:rPr lang="en-US" sz="2400" b="1" dirty="0">
                <a:solidFill>
                  <a:srgbClr val="059669"/>
                </a:solidFill>
              </a:rPr>
              <a:t>1</a:t>
            </a:r>
            <a:endParaRPr lang="en-US" sz="2400" dirty="0"/>
          </a:p>
        </p:txBody>
      </p:sp>
      <p:sp>
        <p:nvSpPr>
          <p:cNvPr id="6" name="Text 4"/>
          <p:cNvSpPr/>
          <p:nvPr/>
        </p:nvSpPr>
        <p:spPr>
          <a:xfrm>
            <a:off x="822960" y="2423160"/>
            <a:ext cx="2011680" cy="54864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Execution integrity</a:t>
            </a:r>
            <a:endParaRPr lang="en-US" sz="1500" dirty="0"/>
          </a:p>
        </p:txBody>
      </p:sp>
      <p:sp>
        <p:nvSpPr>
          <p:cNvPr id="7" name="Text 5"/>
          <p:cNvSpPr/>
          <p:nvPr/>
        </p:nvSpPr>
        <p:spPr>
          <a:xfrm>
            <a:off x="822960" y="3154680"/>
            <a:ext cx="2057400" cy="731520"/>
          </a:xfrm>
          <a:prstGeom prst="rect">
            <a:avLst/>
          </a:prstGeom>
          <a:noFill/>
          <a:ln/>
        </p:spPr>
        <p:txBody>
          <a:bodyPr wrap="square" lIns="0" tIns="0" rIns="0" bIns="0" rtlCol="0" anchor="ctr">
            <a:normAutofit/>
          </a:bodyPr>
          <a:lstStyle/>
          <a:p>
            <a:pPr indent="0" marL="0">
              <a:buNone/>
            </a:pPr>
            <a:r>
              <a:rPr lang="en-US" sz="1050" dirty="0">
                <a:solidFill>
                  <a:srgbClr val="475569"/>
                </a:solidFill>
              </a:rPr>
              <a:t>All cases submitted; batches terminate</a:t>
            </a:r>
            <a:endParaRPr lang="en-US" sz="1050" dirty="0"/>
          </a:p>
        </p:txBody>
      </p:sp>
      <p:sp>
        <p:nvSpPr>
          <p:cNvPr id="8" name="Shape 6"/>
          <p:cNvSpPr/>
          <p:nvPr/>
        </p:nvSpPr>
        <p:spPr>
          <a:xfrm>
            <a:off x="822960" y="4343400"/>
            <a:ext cx="1325880" cy="274320"/>
          </a:xfrm>
          <a:prstGeom prst="roundRect">
            <a:avLst/>
          </a:prstGeom>
          <a:solidFill>
            <a:srgbClr val="059669"/>
          </a:solidFill>
          <a:ln w="12700">
            <a:solidFill>
              <a:srgbClr val="059669"/>
            </a:solidFill>
            <a:prstDash val="solid"/>
          </a:ln>
        </p:spPr>
      </p:sp>
      <p:sp>
        <p:nvSpPr>
          <p:cNvPr id="9" name="Text 7"/>
          <p:cNvSpPr/>
          <p:nvPr/>
        </p:nvSpPr>
        <p:spPr>
          <a:xfrm>
            <a:off x="868680" y="4393692"/>
            <a:ext cx="1234440" cy="137160"/>
          </a:xfrm>
          <a:prstGeom prst="rect">
            <a:avLst/>
          </a:prstGeom>
          <a:noFill/>
          <a:ln/>
        </p:spPr>
        <p:txBody>
          <a:bodyPr wrap="square" lIns="0" tIns="0" rIns="0" bIns="0" rtlCol="0" anchor="ctr"/>
          <a:lstStyle/>
          <a:p>
            <a:pPr algn="ctr" indent="0" marL="0">
              <a:buNone/>
            </a:pPr>
            <a:r>
              <a:rPr lang="en-US" sz="800" b="1" dirty="0">
                <a:solidFill>
                  <a:srgbClr val="FFFFFF"/>
                </a:solidFill>
              </a:rPr>
              <a:t>PASS</a:t>
            </a:r>
            <a:endParaRPr lang="en-US" sz="800" dirty="0"/>
          </a:p>
        </p:txBody>
      </p:sp>
      <p:sp>
        <p:nvSpPr>
          <p:cNvPr id="10" name="Shape 8"/>
          <p:cNvSpPr/>
          <p:nvPr/>
        </p:nvSpPr>
        <p:spPr>
          <a:xfrm>
            <a:off x="3429000" y="1600200"/>
            <a:ext cx="2468880" cy="3383280"/>
          </a:xfrm>
          <a:prstGeom prst="roundRect">
            <a:avLst>
              <a:gd name="adj" fmla="val 2963"/>
            </a:avLst>
          </a:prstGeom>
          <a:solidFill>
            <a:srgbClr val="FFFFFF"/>
          </a:solidFill>
          <a:ln w="10160">
            <a:solidFill>
              <a:srgbClr val="D8DEE8"/>
            </a:solidFill>
            <a:prstDash val="solid"/>
          </a:ln>
        </p:spPr>
      </p:sp>
      <p:sp>
        <p:nvSpPr>
          <p:cNvPr id="11" name="Text 9"/>
          <p:cNvSpPr/>
          <p:nvPr/>
        </p:nvSpPr>
        <p:spPr>
          <a:xfrm>
            <a:off x="3611880" y="1828800"/>
            <a:ext cx="411480" cy="411480"/>
          </a:xfrm>
          <a:prstGeom prst="rect">
            <a:avLst/>
          </a:prstGeom>
          <a:noFill/>
          <a:ln/>
        </p:spPr>
        <p:txBody>
          <a:bodyPr wrap="square" lIns="0" tIns="0" rIns="0" bIns="0" rtlCol="0" anchor="ctr"/>
          <a:lstStyle/>
          <a:p>
            <a:pPr indent="0" marL="0">
              <a:buNone/>
            </a:pPr>
            <a:r>
              <a:rPr lang="en-US" sz="2400" b="1" dirty="0">
                <a:solidFill>
                  <a:srgbClr val="DC2626"/>
                </a:solidFill>
              </a:rPr>
              <a:t>2</a:t>
            </a:r>
            <a:endParaRPr lang="en-US" sz="2400" dirty="0"/>
          </a:p>
        </p:txBody>
      </p:sp>
      <p:sp>
        <p:nvSpPr>
          <p:cNvPr id="12" name="Text 10"/>
          <p:cNvSpPr/>
          <p:nvPr/>
        </p:nvSpPr>
        <p:spPr>
          <a:xfrm>
            <a:off x="3611880" y="2423160"/>
            <a:ext cx="2011680" cy="548640"/>
          </a:xfrm>
          <a:prstGeom prst="rect">
            <a:avLst/>
          </a:prstGeom>
          <a:noFill/>
          <a:ln/>
        </p:spPr>
        <p:txBody>
          <a:bodyPr wrap="square" lIns="0" tIns="0" rIns="0" bIns="0" rtlCol="0" anchor="ctr">
            <a:normAutofit/>
          </a:bodyPr>
          <a:lstStyle/>
          <a:p>
            <a:pPr indent="0" marL="0">
              <a:buNone/>
            </a:pPr>
            <a:r>
              <a:rPr lang="en-US" sz="1500" b="1" dirty="0">
                <a:solidFill>
                  <a:srgbClr val="0F172A"/>
                </a:solidFill>
              </a:rPr>
              <a:t>Result integrity</a:t>
            </a:r>
            <a:endParaRPr lang="en-US" sz="1500" dirty="0"/>
          </a:p>
        </p:txBody>
      </p:sp>
      <p:sp>
        <p:nvSpPr>
          <p:cNvPr id="13" name="Text 11"/>
          <p:cNvSpPr/>
          <p:nvPr/>
        </p:nvSpPr>
        <p:spPr>
          <a:xfrm>
            <a:off x="3611880" y="3154680"/>
            <a:ext cx="2057400" cy="731520"/>
          </a:xfrm>
          <a:prstGeom prst="rect">
            <a:avLst/>
          </a:prstGeom>
          <a:noFill/>
          <a:ln/>
        </p:spPr>
        <p:txBody>
          <a:bodyPr wrap="square" lIns="0" tIns="0" rIns="0" bIns="0" rtlCol="0" anchor="ctr">
            <a:normAutofit/>
          </a:bodyPr>
          <a:lstStyle/>
          <a:p>
            <a:pPr indent="0" marL="0">
              <a:buNone/>
            </a:pPr>
            <a:r>
              <a:rPr lang="en-US" sz="1050" dirty="0">
                <a:solidFill>
                  <a:srgbClr val="475569"/>
                </a:solidFill>
              </a:rPr>
              <a:t>Every case returns validated score/risk/outcome</a:t>
            </a:r>
            <a:endParaRPr lang="en-US" sz="1050" dirty="0"/>
          </a:p>
        </p:txBody>
      </p:sp>
      <p:sp>
        <p:nvSpPr>
          <p:cNvPr id="14" name="Shape 12"/>
          <p:cNvSpPr/>
          <p:nvPr/>
        </p:nvSpPr>
        <p:spPr>
          <a:xfrm>
            <a:off x="3611880" y="4343400"/>
            <a:ext cx="1325880" cy="274320"/>
          </a:xfrm>
          <a:prstGeom prst="roundRect">
            <a:avLst/>
          </a:prstGeom>
          <a:solidFill>
            <a:srgbClr val="DC2626"/>
          </a:solidFill>
          <a:ln w="12700">
            <a:solidFill>
              <a:srgbClr val="DC2626"/>
            </a:solidFill>
            <a:prstDash val="solid"/>
          </a:ln>
        </p:spPr>
      </p:sp>
      <p:sp>
        <p:nvSpPr>
          <p:cNvPr id="15" name="Text 13"/>
          <p:cNvSpPr/>
          <p:nvPr/>
        </p:nvSpPr>
        <p:spPr>
          <a:xfrm>
            <a:off x="3657600" y="4393692"/>
            <a:ext cx="1234440" cy="137160"/>
          </a:xfrm>
          <a:prstGeom prst="rect">
            <a:avLst/>
          </a:prstGeom>
          <a:noFill/>
          <a:ln/>
        </p:spPr>
        <p:txBody>
          <a:bodyPr wrap="square" lIns="0" tIns="0" rIns="0" bIns="0" rtlCol="0" anchor="ctr"/>
          <a:lstStyle/>
          <a:p>
            <a:pPr algn="ctr" indent="0" marL="0">
              <a:buNone/>
            </a:pPr>
            <a:r>
              <a:rPr lang="en-US" sz="800" b="1" dirty="0">
                <a:solidFill>
                  <a:srgbClr val="FFFFFF"/>
                </a:solidFill>
              </a:rPr>
              <a:t>FAIL</a:t>
            </a:r>
            <a:endParaRPr lang="en-US" sz="800" dirty="0"/>
          </a:p>
        </p:txBody>
      </p:sp>
      <p:sp>
        <p:nvSpPr>
          <p:cNvPr id="16" name="Shape 14"/>
          <p:cNvSpPr/>
          <p:nvPr/>
        </p:nvSpPr>
        <p:spPr>
          <a:xfrm>
            <a:off x="6217920" y="1600200"/>
            <a:ext cx="2468880" cy="3383280"/>
          </a:xfrm>
          <a:prstGeom prst="roundRect">
            <a:avLst>
              <a:gd name="adj" fmla="val 2963"/>
            </a:avLst>
          </a:prstGeom>
          <a:solidFill>
            <a:srgbClr val="FFFFFF"/>
          </a:solidFill>
          <a:ln w="10160">
            <a:solidFill>
              <a:srgbClr val="D8DEE8"/>
            </a:solidFill>
            <a:prstDash val="solid"/>
          </a:ln>
        </p:spPr>
      </p:sp>
      <p:sp>
        <p:nvSpPr>
          <p:cNvPr id="17" name="Text 15"/>
          <p:cNvSpPr/>
          <p:nvPr/>
        </p:nvSpPr>
        <p:spPr>
          <a:xfrm>
            <a:off x="6400800" y="1828800"/>
            <a:ext cx="411480" cy="411480"/>
          </a:xfrm>
          <a:prstGeom prst="rect">
            <a:avLst/>
          </a:prstGeom>
          <a:noFill/>
          <a:ln/>
        </p:spPr>
        <p:txBody>
          <a:bodyPr wrap="square" lIns="0" tIns="0" rIns="0" bIns="0" rtlCol="0" anchor="ctr"/>
          <a:lstStyle/>
          <a:p>
            <a:pPr indent="0" marL="0">
              <a:buNone/>
            </a:pPr>
            <a:r>
              <a:rPr lang="en-US" sz="2400" b="1" dirty="0">
                <a:solidFill>
                  <a:srgbClr val="D97706"/>
                </a:solidFill>
              </a:rPr>
              <a:t>3</a:t>
            </a:r>
            <a:endParaRPr lang="en-US" sz="2400" dirty="0"/>
          </a:p>
        </p:txBody>
      </p:sp>
      <p:sp>
        <p:nvSpPr>
          <p:cNvPr id="18" name="Text 16"/>
          <p:cNvSpPr/>
          <p:nvPr/>
        </p:nvSpPr>
        <p:spPr>
          <a:xfrm>
            <a:off x="6400800" y="2423160"/>
            <a:ext cx="2011680" cy="548640"/>
          </a:xfrm>
          <a:prstGeom prst="rect">
            <a:avLst/>
          </a:prstGeom>
          <a:noFill/>
          <a:ln/>
        </p:spPr>
        <p:txBody>
          <a:bodyPr wrap="square" lIns="0" tIns="0" rIns="0" bIns="0" rtlCol="0" anchor="ctr">
            <a:normAutofit/>
          </a:bodyPr>
          <a:lstStyle/>
          <a:p>
            <a:pPr indent="0" marL="0">
              <a:buNone/>
            </a:pPr>
            <a:r>
              <a:rPr lang="en-US" sz="1500" b="1" dirty="0">
                <a:solidFill>
                  <a:srgbClr val="0F172A"/>
                </a:solidFill>
              </a:rPr>
              <a:t>Scoring validity</a:t>
            </a:r>
            <a:endParaRPr lang="en-US" sz="1500" dirty="0"/>
          </a:p>
        </p:txBody>
      </p:sp>
      <p:sp>
        <p:nvSpPr>
          <p:cNvPr id="19" name="Text 17"/>
          <p:cNvSpPr/>
          <p:nvPr/>
        </p:nvSpPr>
        <p:spPr>
          <a:xfrm>
            <a:off x="6400800" y="3154680"/>
            <a:ext cx="2057400" cy="731520"/>
          </a:xfrm>
          <a:prstGeom prst="rect">
            <a:avLst/>
          </a:prstGeom>
          <a:noFill/>
          <a:ln/>
        </p:spPr>
        <p:txBody>
          <a:bodyPr wrap="square" lIns="0" tIns="0" rIns="0" bIns="0" rtlCol="0" anchor="ctr">
            <a:normAutofit/>
          </a:bodyPr>
          <a:lstStyle/>
          <a:p>
            <a:pPr indent="0" marL="0">
              <a:buNone/>
            </a:pPr>
            <a:r>
              <a:rPr lang="en-US" sz="1050" dirty="0">
                <a:solidFill>
                  <a:srgbClr val="475569"/>
                </a:solidFill>
              </a:rPr>
              <a:t>Weak/strong prompts separate as expected</a:t>
            </a:r>
            <a:endParaRPr lang="en-US" sz="1050" dirty="0"/>
          </a:p>
        </p:txBody>
      </p:sp>
      <p:sp>
        <p:nvSpPr>
          <p:cNvPr id="20" name="Shape 18"/>
          <p:cNvSpPr/>
          <p:nvPr/>
        </p:nvSpPr>
        <p:spPr>
          <a:xfrm>
            <a:off x="6400800" y="4343400"/>
            <a:ext cx="1325880" cy="274320"/>
          </a:xfrm>
          <a:prstGeom prst="roundRect">
            <a:avLst/>
          </a:prstGeom>
          <a:solidFill>
            <a:srgbClr val="D97706"/>
          </a:solidFill>
          <a:ln w="12700">
            <a:solidFill>
              <a:srgbClr val="D97706"/>
            </a:solidFill>
            <a:prstDash val="solid"/>
          </a:ln>
        </p:spPr>
      </p:sp>
      <p:sp>
        <p:nvSpPr>
          <p:cNvPr id="21" name="Text 19"/>
          <p:cNvSpPr/>
          <p:nvPr/>
        </p:nvSpPr>
        <p:spPr>
          <a:xfrm>
            <a:off x="6446520" y="4393692"/>
            <a:ext cx="1234440" cy="137160"/>
          </a:xfrm>
          <a:prstGeom prst="rect">
            <a:avLst/>
          </a:prstGeom>
          <a:noFill/>
          <a:ln/>
        </p:spPr>
        <p:txBody>
          <a:bodyPr wrap="square" lIns="0" tIns="0" rIns="0" bIns="0" rtlCol="0" anchor="ctr"/>
          <a:lstStyle/>
          <a:p>
            <a:pPr algn="ctr" indent="0" marL="0">
              <a:buNone/>
            </a:pPr>
            <a:r>
              <a:rPr lang="en-US" sz="800" b="1" dirty="0">
                <a:solidFill>
                  <a:srgbClr val="FFFFFF"/>
                </a:solidFill>
              </a:rPr>
              <a:t>BLOCKED</a:t>
            </a:r>
            <a:endParaRPr lang="en-US" sz="800" dirty="0"/>
          </a:p>
        </p:txBody>
      </p:sp>
      <p:sp>
        <p:nvSpPr>
          <p:cNvPr id="22" name="Shape 20"/>
          <p:cNvSpPr/>
          <p:nvPr/>
        </p:nvSpPr>
        <p:spPr>
          <a:xfrm>
            <a:off x="9006840" y="1600200"/>
            <a:ext cx="2468880" cy="3383280"/>
          </a:xfrm>
          <a:prstGeom prst="roundRect">
            <a:avLst>
              <a:gd name="adj" fmla="val 2963"/>
            </a:avLst>
          </a:prstGeom>
          <a:solidFill>
            <a:srgbClr val="FFFFFF"/>
          </a:solidFill>
          <a:ln w="10160">
            <a:solidFill>
              <a:srgbClr val="D8DEE8"/>
            </a:solidFill>
            <a:prstDash val="solid"/>
          </a:ln>
        </p:spPr>
      </p:sp>
      <p:sp>
        <p:nvSpPr>
          <p:cNvPr id="23" name="Text 21"/>
          <p:cNvSpPr/>
          <p:nvPr/>
        </p:nvSpPr>
        <p:spPr>
          <a:xfrm>
            <a:off x="9189720" y="1828800"/>
            <a:ext cx="411480" cy="411480"/>
          </a:xfrm>
          <a:prstGeom prst="rect">
            <a:avLst/>
          </a:prstGeom>
          <a:noFill/>
          <a:ln/>
        </p:spPr>
        <p:txBody>
          <a:bodyPr wrap="square" lIns="0" tIns="0" rIns="0" bIns="0" rtlCol="0" anchor="ctr"/>
          <a:lstStyle/>
          <a:p>
            <a:pPr indent="0" marL="0">
              <a:buNone/>
            </a:pPr>
            <a:r>
              <a:rPr lang="en-US" sz="2400" b="1" dirty="0">
                <a:solidFill>
                  <a:srgbClr val="D97706"/>
                </a:solidFill>
              </a:rPr>
              <a:t>4</a:t>
            </a:r>
            <a:endParaRPr lang="en-US" sz="2400" dirty="0"/>
          </a:p>
        </p:txBody>
      </p:sp>
      <p:sp>
        <p:nvSpPr>
          <p:cNvPr id="24" name="Text 22"/>
          <p:cNvSpPr/>
          <p:nvPr/>
        </p:nvSpPr>
        <p:spPr>
          <a:xfrm>
            <a:off x="9189720" y="2423160"/>
            <a:ext cx="2011680" cy="548640"/>
          </a:xfrm>
          <a:prstGeom prst="rect">
            <a:avLst/>
          </a:prstGeom>
          <a:noFill/>
          <a:ln/>
        </p:spPr>
        <p:txBody>
          <a:bodyPr wrap="square" lIns="0" tIns="0" rIns="0" bIns="0" rtlCol="0" anchor="ctr">
            <a:normAutofit/>
          </a:bodyPr>
          <a:lstStyle/>
          <a:p>
            <a:pPr indent="0" marL="0">
              <a:buNone/>
            </a:pPr>
            <a:r>
              <a:rPr lang="en-US" sz="1500" b="1" dirty="0">
                <a:solidFill>
                  <a:srgbClr val="0F172A"/>
                </a:solidFill>
              </a:rPr>
              <a:t>Reproducibility</a:t>
            </a:r>
            <a:endParaRPr lang="en-US" sz="1500" dirty="0"/>
          </a:p>
        </p:txBody>
      </p:sp>
      <p:sp>
        <p:nvSpPr>
          <p:cNvPr id="25" name="Text 23"/>
          <p:cNvSpPr/>
          <p:nvPr/>
        </p:nvSpPr>
        <p:spPr>
          <a:xfrm>
            <a:off x="9189720" y="3154680"/>
            <a:ext cx="2057400" cy="731520"/>
          </a:xfrm>
          <a:prstGeom prst="rect">
            <a:avLst/>
          </a:prstGeom>
          <a:noFill/>
          <a:ln/>
        </p:spPr>
        <p:txBody>
          <a:bodyPr wrap="square" lIns="0" tIns="0" rIns="0" bIns="0" rtlCol="0" anchor="ctr">
            <a:normAutofit/>
          </a:bodyPr>
          <a:lstStyle/>
          <a:p>
            <a:pPr indent="0" marL="0">
              <a:buNone/>
            </a:pPr>
            <a:r>
              <a:rPr lang="en-US" sz="1050" dirty="0">
                <a:solidFill>
                  <a:srgbClr val="475569"/>
                </a:solidFill>
              </a:rPr>
              <a:t>Repeated runs show acceptable variance</a:t>
            </a:r>
            <a:endParaRPr lang="en-US" sz="1050" dirty="0"/>
          </a:p>
        </p:txBody>
      </p:sp>
      <p:sp>
        <p:nvSpPr>
          <p:cNvPr id="26" name="Shape 24"/>
          <p:cNvSpPr/>
          <p:nvPr/>
        </p:nvSpPr>
        <p:spPr>
          <a:xfrm>
            <a:off x="9189720" y="4343400"/>
            <a:ext cx="1325880" cy="274320"/>
          </a:xfrm>
          <a:prstGeom prst="roundRect">
            <a:avLst/>
          </a:prstGeom>
          <a:solidFill>
            <a:srgbClr val="D97706"/>
          </a:solidFill>
          <a:ln w="12700">
            <a:solidFill>
              <a:srgbClr val="D97706"/>
            </a:solidFill>
            <a:prstDash val="solid"/>
          </a:ln>
        </p:spPr>
      </p:sp>
      <p:sp>
        <p:nvSpPr>
          <p:cNvPr id="27" name="Text 25"/>
          <p:cNvSpPr/>
          <p:nvPr/>
        </p:nvSpPr>
        <p:spPr>
          <a:xfrm>
            <a:off x="9235440" y="4393692"/>
            <a:ext cx="1234440" cy="137160"/>
          </a:xfrm>
          <a:prstGeom prst="rect">
            <a:avLst/>
          </a:prstGeom>
          <a:noFill/>
          <a:ln/>
        </p:spPr>
        <p:txBody>
          <a:bodyPr wrap="square" lIns="0" tIns="0" rIns="0" bIns="0" rtlCol="0" anchor="ctr"/>
          <a:lstStyle/>
          <a:p>
            <a:pPr algn="ctr" indent="0" marL="0">
              <a:buNone/>
            </a:pPr>
            <a:r>
              <a:rPr lang="en-US" sz="800" b="1" dirty="0">
                <a:solidFill>
                  <a:srgbClr val="FFFFFF"/>
                </a:solidFill>
              </a:rPr>
              <a:t>BLOCKED</a:t>
            </a:r>
            <a:endParaRPr lang="en-US" sz="800" dirty="0"/>
          </a:p>
        </p:txBody>
      </p:sp>
      <p:sp>
        <p:nvSpPr>
          <p:cNvPr id="28" name="Text 26"/>
          <p:cNvSpPr/>
          <p:nvPr/>
        </p:nvSpPr>
        <p:spPr>
          <a:xfrm>
            <a:off x="731520" y="5440680"/>
            <a:ext cx="1280160" cy="228600"/>
          </a:xfrm>
          <a:prstGeom prst="rect">
            <a:avLst/>
          </a:prstGeom>
          <a:noFill/>
          <a:ln/>
        </p:spPr>
        <p:txBody>
          <a:bodyPr wrap="square" lIns="0" tIns="0" rIns="0" bIns="0" rtlCol="0" anchor="ctr"/>
          <a:lstStyle/>
          <a:p>
            <a:pPr indent="0" marL="0">
              <a:buNone/>
            </a:pPr>
            <a:r>
              <a:rPr lang="en-US" sz="1000" b="1" dirty="0">
                <a:solidFill>
                  <a:srgbClr val="2563EB"/>
                </a:solidFill>
              </a:rPr>
              <a:t>Publication rule</a:t>
            </a:r>
            <a:endParaRPr lang="en-US" sz="1000" dirty="0"/>
          </a:p>
        </p:txBody>
      </p:sp>
      <p:sp>
        <p:nvSpPr>
          <p:cNvPr id="29" name="Text 27"/>
          <p:cNvSpPr/>
          <p:nvPr/>
        </p:nvSpPr>
        <p:spPr>
          <a:xfrm>
            <a:off x="2057400" y="5376672"/>
            <a:ext cx="9144000" cy="438912"/>
          </a:xfrm>
          <a:prstGeom prst="rect">
            <a:avLst/>
          </a:prstGeom>
          <a:noFill/>
          <a:ln/>
        </p:spPr>
        <p:txBody>
          <a:bodyPr wrap="square" lIns="0" tIns="0" rIns="0" bIns="0" rtlCol="0" anchor="ctr">
            <a:normAutofit/>
          </a:bodyPr>
          <a:lstStyle/>
          <a:p>
            <a:pPr indent="0" marL="0">
              <a:buNone/>
            </a:pPr>
            <a:r>
              <a:rPr lang="en-US" sz="1200" b="1" dirty="0">
                <a:solidFill>
                  <a:srgbClr val="0F172A"/>
                </a:solidFill>
              </a:rPr>
              <a:t>Do not report an aggregate pass rate until Gates 1–3 pass. For credible external benchmarking, add Gate 4 with ≥3 repeated runs and per-case variance.</a:t>
            </a:r>
            <a:endParaRPr lang="en-US" sz="12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Remediation plan: 24-hour path to trustworthy benchmark evidence</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Prioritize contract correctness over throughput tuning; the orchestration layer is already demonstrating stability.</a:t>
            </a:r>
            <a:endParaRPr lang="en-US" sz="1150" dirty="0"/>
          </a:p>
        </p:txBody>
      </p:sp>
      <p:sp>
        <p:nvSpPr>
          <p:cNvPr id="4" name="Shape 2"/>
          <p:cNvSpPr/>
          <p:nvPr/>
        </p:nvSpPr>
        <p:spPr>
          <a:xfrm>
            <a:off x="640080" y="1463040"/>
            <a:ext cx="10972800" cy="749808"/>
          </a:xfrm>
          <a:prstGeom prst="roundRect">
            <a:avLst>
              <a:gd name="adj" fmla="val 9756"/>
            </a:avLst>
          </a:prstGeom>
          <a:solidFill>
            <a:srgbClr val="FFFFFF"/>
          </a:solidFill>
          <a:ln w="10160">
            <a:solidFill>
              <a:srgbClr val="D8DEE8"/>
            </a:solidFill>
            <a:prstDash val="solid"/>
          </a:ln>
        </p:spPr>
      </p:sp>
      <p:sp>
        <p:nvSpPr>
          <p:cNvPr id="5" name="Shape 3"/>
          <p:cNvSpPr/>
          <p:nvPr/>
        </p:nvSpPr>
        <p:spPr>
          <a:xfrm>
            <a:off x="822960" y="1664208"/>
            <a:ext cx="914400" cy="274320"/>
          </a:xfrm>
          <a:prstGeom prst="roundRect">
            <a:avLst/>
          </a:prstGeom>
          <a:solidFill>
            <a:srgbClr val="2563EB"/>
          </a:solidFill>
          <a:ln w="12700">
            <a:solidFill>
              <a:srgbClr val="2563EB"/>
            </a:solidFill>
            <a:prstDash val="solid"/>
          </a:ln>
        </p:spPr>
      </p:sp>
      <p:sp>
        <p:nvSpPr>
          <p:cNvPr id="6" name="Text 4"/>
          <p:cNvSpPr/>
          <p:nvPr/>
        </p:nvSpPr>
        <p:spPr>
          <a:xfrm>
            <a:off x="868680" y="1714500"/>
            <a:ext cx="822960" cy="137160"/>
          </a:xfrm>
          <a:prstGeom prst="rect">
            <a:avLst/>
          </a:prstGeom>
          <a:noFill/>
          <a:ln/>
        </p:spPr>
        <p:txBody>
          <a:bodyPr wrap="square" lIns="0" tIns="0" rIns="0" bIns="0" rtlCol="0" anchor="ctr"/>
          <a:lstStyle/>
          <a:p>
            <a:pPr algn="ctr" indent="0" marL="0">
              <a:buNone/>
            </a:pPr>
            <a:r>
              <a:rPr lang="en-US" sz="800" b="1" dirty="0">
                <a:solidFill>
                  <a:srgbClr val="FFFFFF"/>
                </a:solidFill>
              </a:rPr>
              <a:t>0–2h</a:t>
            </a:r>
            <a:endParaRPr lang="en-US" sz="800" dirty="0"/>
          </a:p>
        </p:txBody>
      </p:sp>
      <p:sp>
        <p:nvSpPr>
          <p:cNvPr id="7" name="Text 5"/>
          <p:cNvSpPr/>
          <p:nvPr/>
        </p:nvSpPr>
        <p:spPr>
          <a:xfrm>
            <a:off x="1920240" y="1627632"/>
            <a:ext cx="1051560" cy="228600"/>
          </a:xfrm>
          <a:prstGeom prst="rect">
            <a:avLst/>
          </a:prstGeom>
          <a:noFill/>
          <a:ln/>
        </p:spPr>
        <p:txBody>
          <a:bodyPr wrap="square" lIns="0" tIns="0" rIns="0" bIns="0" rtlCol="0" anchor="ctr"/>
          <a:lstStyle/>
          <a:p>
            <a:pPr indent="0" marL="0">
              <a:buNone/>
            </a:pPr>
            <a:r>
              <a:rPr lang="en-US" sz="1100" b="1" dirty="0">
                <a:solidFill>
                  <a:srgbClr val="0F172A"/>
                </a:solidFill>
              </a:rPr>
              <a:t>Capture</a:t>
            </a:r>
            <a:endParaRPr lang="en-US" sz="1100" dirty="0"/>
          </a:p>
        </p:txBody>
      </p:sp>
      <p:sp>
        <p:nvSpPr>
          <p:cNvPr id="8" name="Text 6"/>
          <p:cNvSpPr/>
          <p:nvPr/>
        </p:nvSpPr>
        <p:spPr>
          <a:xfrm>
            <a:off x="3017520" y="1581912"/>
            <a:ext cx="5943600" cy="365760"/>
          </a:xfrm>
          <a:prstGeom prst="rect">
            <a:avLst/>
          </a:prstGeom>
          <a:noFill/>
          <a:ln/>
        </p:spPr>
        <p:txBody>
          <a:bodyPr wrap="square" lIns="0" tIns="0" rIns="0" bIns="0" rtlCol="0" anchor="ctr">
            <a:normAutofit/>
          </a:bodyPr>
          <a:lstStyle/>
          <a:p>
            <a:pPr indent="0" marL="0">
              <a:buNone/>
            </a:pPr>
            <a:r>
              <a:rPr lang="en-US" sz="1000" dirty="0">
                <a:solidFill>
                  <a:srgbClr val="475569"/>
                </a:solidFill>
              </a:rPr>
              <a:t>Save raw status responses for 1 batch; compare API JSON → checkpoint → report</a:t>
            </a:r>
            <a:endParaRPr lang="en-US" sz="1000" dirty="0"/>
          </a:p>
        </p:txBody>
      </p:sp>
      <p:sp>
        <p:nvSpPr>
          <p:cNvPr id="9" name="Text 7"/>
          <p:cNvSpPr/>
          <p:nvPr/>
        </p:nvSpPr>
        <p:spPr>
          <a:xfrm>
            <a:off x="9144000" y="1581912"/>
            <a:ext cx="2148840" cy="365760"/>
          </a:xfrm>
          <a:prstGeom prst="rect">
            <a:avLst/>
          </a:prstGeom>
          <a:noFill/>
          <a:ln/>
        </p:spPr>
        <p:txBody>
          <a:bodyPr wrap="square" lIns="0" tIns="0" rIns="0" bIns="0" rtlCol="0" anchor="ctr">
            <a:normAutofit/>
          </a:bodyPr>
          <a:lstStyle/>
          <a:p>
            <a:pPr indent="0" marL="0">
              <a:buNone/>
            </a:pPr>
            <a:r>
              <a:rPr lang="en-US" sz="950" b="1" dirty="0">
                <a:solidFill>
                  <a:srgbClr val="0F172A"/>
                </a:solidFill>
              </a:rPr>
              <a:t>Evidence of exact loss point</a:t>
            </a:r>
            <a:endParaRPr lang="en-US" sz="950" dirty="0"/>
          </a:p>
        </p:txBody>
      </p:sp>
      <p:sp>
        <p:nvSpPr>
          <p:cNvPr id="10" name="Shape 8"/>
          <p:cNvSpPr/>
          <p:nvPr/>
        </p:nvSpPr>
        <p:spPr>
          <a:xfrm>
            <a:off x="640080" y="2395728"/>
            <a:ext cx="10972800" cy="749808"/>
          </a:xfrm>
          <a:prstGeom prst="roundRect">
            <a:avLst>
              <a:gd name="adj" fmla="val 9756"/>
            </a:avLst>
          </a:prstGeom>
          <a:solidFill>
            <a:srgbClr val="F8FAFC"/>
          </a:solidFill>
          <a:ln w="10160">
            <a:solidFill>
              <a:srgbClr val="D8DEE8"/>
            </a:solidFill>
            <a:prstDash val="solid"/>
          </a:ln>
        </p:spPr>
      </p:sp>
      <p:sp>
        <p:nvSpPr>
          <p:cNvPr id="11" name="Shape 9"/>
          <p:cNvSpPr/>
          <p:nvPr/>
        </p:nvSpPr>
        <p:spPr>
          <a:xfrm>
            <a:off x="822960" y="2596896"/>
            <a:ext cx="914400" cy="274320"/>
          </a:xfrm>
          <a:prstGeom prst="roundRect">
            <a:avLst/>
          </a:prstGeom>
          <a:solidFill>
            <a:srgbClr val="DC2626"/>
          </a:solidFill>
          <a:ln w="12700">
            <a:solidFill>
              <a:srgbClr val="DC2626"/>
            </a:solidFill>
            <a:prstDash val="solid"/>
          </a:ln>
        </p:spPr>
      </p:sp>
      <p:sp>
        <p:nvSpPr>
          <p:cNvPr id="12" name="Text 10"/>
          <p:cNvSpPr/>
          <p:nvPr/>
        </p:nvSpPr>
        <p:spPr>
          <a:xfrm>
            <a:off x="868680" y="2647188"/>
            <a:ext cx="822960" cy="137160"/>
          </a:xfrm>
          <a:prstGeom prst="rect">
            <a:avLst/>
          </a:prstGeom>
          <a:noFill/>
          <a:ln/>
        </p:spPr>
        <p:txBody>
          <a:bodyPr wrap="square" lIns="0" tIns="0" rIns="0" bIns="0" rtlCol="0" anchor="ctr"/>
          <a:lstStyle/>
          <a:p>
            <a:pPr algn="ctr" indent="0" marL="0">
              <a:buNone/>
            </a:pPr>
            <a:r>
              <a:rPr lang="en-US" sz="800" b="1" dirty="0">
                <a:solidFill>
                  <a:srgbClr val="FFFFFF"/>
                </a:solidFill>
              </a:rPr>
              <a:t>2–6h</a:t>
            </a:r>
            <a:endParaRPr lang="en-US" sz="800" dirty="0"/>
          </a:p>
        </p:txBody>
      </p:sp>
      <p:sp>
        <p:nvSpPr>
          <p:cNvPr id="13" name="Text 11"/>
          <p:cNvSpPr/>
          <p:nvPr/>
        </p:nvSpPr>
        <p:spPr>
          <a:xfrm>
            <a:off x="1920240" y="2560320"/>
            <a:ext cx="1051560" cy="228600"/>
          </a:xfrm>
          <a:prstGeom prst="rect">
            <a:avLst/>
          </a:prstGeom>
          <a:noFill/>
          <a:ln/>
        </p:spPr>
        <p:txBody>
          <a:bodyPr wrap="square" lIns="0" tIns="0" rIns="0" bIns="0" rtlCol="0" anchor="ctr"/>
          <a:lstStyle/>
          <a:p>
            <a:pPr indent="0" marL="0">
              <a:buNone/>
            </a:pPr>
            <a:r>
              <a:rPr lang="en-US" sz="1100" b="1" dirty="0">
                <a:solidFill>
                  <a:srgbClr val="0F172A"/>
                </a:solidFill>
              </a:rPr>
              <a:t>Contract</a:t>
            </a:r>
            <a:endParaRPr lang="en-US" sz="1100" dirty="0"/>
          </a:p>
        </p:txBody>
      </p:sp>
      <p:sp>
        <p:nvSpPr>
          <p:cNvPr id="14" name="Text 12"/>
          <p:cNvSpPr/>
          <p:nvPr/>
        </p:nvSpPr>
        <p:spPr>
          <a:xfrm>
            <a:off x="3017520" y="2514600"/>
            <a:ext cx="5943600" cy="365760"/>
          </a:xfrm>
          <a:prstGeom prst="rect">
            <a:avLst/>
          </a:prstGeom>
          <a:noFill/>
          <a:ln/>
        </p:spPr>
        <p:txBody>
          <a:bodyPr wrap="square" lIns="0" tIns="0" rIns="0" bIns="0" rtlCol="0" anchor="ctr">
            <a:normAutofit/>
          </a:bodyPr>
          <a:lstStyle/>
          <a:p>
            <a:pPr indent="0" marL="0">
              <a:buNone/>
            </a:pPr>
            <a:r>
              <a:rPr lang="en-US" sz="1000" dirty="0">
                <a:solidFill>
                  <a:srgbClr val="475569"/>
                </a:solidFill>
              </a:rPr>
              <a:t>Implement strict normalizer + schema validation + terminal error object</a:t>
            </a:r>
            <a:endParaRPr lang="en-US" sz="1000" dirty="0"/>
          </a:p>
        </p:txBody>
      </p:sp>
      <p:sp>
        <p:nvSpPr>
          <p:cNvPr id="15" name="Text 13"/>
          <p:cNvSpPr/>
          <p:nvPr/>
        </p:nvSpPr>
        <p:spPr>
          <a:xfrm>
            <a:off x="9144000" y="2514600"/>
            <a:ext cx="2148840" cy="365760"/>
          </a:xfrm>
          <a:prstGeom prst="rect">
            <a:avLst/>
          </a:prstGeom>
          <a:noFill/>
          <a:ln/>
        </p:spPr>
        <p:txBody>
          <a:bodyPr wrap="square" lIns="0" tIns="0" rIns="0" bIns="0" rtlCol="0" anchor="ctr">
            <a:normAutofit/>
          </a:bodyPr>
          <a:lstStyle/>
          <a:p>
            <a:pPr indent="0" marL="0">
              <a:buNone/>
            </a:pPr>
            <a:r>
              <a:rPr lang="en-US" sz="950" b="1" dirty="0">
                <a:solidFill>
                  <a:srgbClr val="0F172A"/>
                </a:solidFill>
              </a:rPr>
              <a:t>No silent empty cases</a:t>
            </a:r>
            <a:endParaRPr lang="en-US" sz="950" dirty="0"/>
          </a:p>
        </p:txBody>
      </p:sp>
      <p:sp>
        <p:nvSpPr>
          <p:cNvPr id="16" name="Shape 14"/>
          <p:cNvSpPr/>
          <p:nvPr/>
        </p:nvSpPr>
        <p:spPr>
          <a:xfrm>
            <a:off x="640080" y="3328416"/>
            <a:ext cx="10972800" cy="749808"/>
          </a:xfrm>
          <a:prstGeom prst="roundRect">
            <a:avLst>
              <a:gd name="adj" fmla="val 9756"/>
            </a:avLst>
          </a:prstGeom>
          <a:solidFill>
            <a:srgbClr val="FFFFFF"/>
          </a:solidFill>
          <a:ln w="10160">
            <a:solidFill>
              <a:srgbClr val="D8DEE8"/>
            </a:solidFill>
            <a:prstDash val="solid"/>
          </a:ln>
        </p:spPr>
      </p:sp>
      <p:sp>
        <p:nvSpPr>
          <p:cNvPr id="17" name="Shape 15"/>
          <p:cNvSpPr/>
          <p:nvPr/>
        </p:nvSpPr>
        <p:spPr>
          <a:xfrm>
            <a:off x="822960" y="3529584"/>
            <a:ext cx="914400" cy="274320"/>
          </a:xfrm>
          <a:prstGeom prst="roundRect">
            <a:avLst/>
          </a:prstGeom>
          <a:solidFill>
            <a:srgbClr val="D97706"/>
          </a:solidFill>
          <a:ln w="12700">
            <a:solidFill>
              <a:srgbClr val="D97706"/>
            </a:solidFill>
            <a:prstDash val="solid"/>
          </a:ln>
        </p:spPr>
      </p:sp>
      <p:sp>
        <p:nvSpPr>
          <p:cNvPr id="18" name="Text 16"/>
          <p:cNvSpPr/>
          <p:nvPr/>
        </p:nvSpPr>
        <p:spPr>
          <a:xfrm>
            <a:off x="868680" y="3579876"/>
            <a:ext cx="822960" cy="137160"/>
          </a:xfrm>
          <a:prstGeom prst="rect">
            <a:avLst/>
          </a:prstGeom>
          <a:noFill/>
          <a:ln/>
        </p:spPr>
        <p:txBody>
          <a:bodyPr wrap="square" lIns="0" tIns="0" rIns="0" bIns="0" rtlCol="0" anchor="ctr"/>
          <a:lstStyle/>
          <a:p>
            <a:pPr algn="ctr" indent="0" marL="0">
              <a:buNone/>
            </a:pPr>
            <a:r>
              <a:rPr lang="en-US" sz="800" b="1" dirty="0">
                <a:solidFill>
                  <a:srgbClr val="FFFFFF"/>
                </a:solidFill>
              </a:rPr>
              <a:t>6–10h</a:t>
            </a:r>
            <a:endParaRPr lang="en-US" sz="800" dirty="0"/>
          </a:p>
        </p:txBody>
      </p:sp>
      <p:sp>
        <p:nvSpPr>
          <p:cNvPr id="19" name="Text 17"/>
          <p:cNvSpPr/>
          <p:nvPr/>
        </p:nvSpPr>
        <p:spPr>
          <a:xfrm>
            <a:off x="1920240" y="3493008"/>
            <a:ext cx="1051560" cy="228600"/>
          </a:xfrm>
          <a:prstGeom prst="rect">
            <a:avLst/>
          </a:prstGeom>
          <a:noFill/>
          <a:ln/>
        </p:spPr>
        <p:txBody>
          <a:bodyPr wrap="square" lIns="0" tIns="0" rIns="0" bIns="0" rtlCol="0" anchor="ctr"/>
          <a:lstStyle/>
          <a:p>
            <a:pPr indent="0" marL="0">
              <a:buNone/>
            </a:pPr>
            <a:r>
              <a:rPr lang="en-US" sz="1100" b="1" dirty="0">
                <a:solidFill>
                  <a:srgbClr val="0F172A"/>
                </a:solidFill>
              </a:rPr>
              <a:t>State</a:t>
            </a:r>
            <a:endParaRPr lang="en-US" sz="1100" dirty="0"/>
          </a:p>
        </p:txBody>
      </p:sp>
      <p:sp>
        <p:nvSpPr>
          <p:cNvPr id="20" name="Text 18"/>
          <p:cNvSpPr/>
          <p:nvPr/>
        </p:nvSpPr>
        <p:spPr>
          <a:xfrm>
            <a:off x="3017520" y="3447288"/>
            <a:ext cx="5943600" cy="365760"/>
          </a:xfrm>
          <a:prstGeom prst="rect">
            <a:avLst/>
          </a:prstGeom>
          <a:noFill/>
          <a:ln/>
        </p:spPr>
        <p:txBody>
          <a:bodyPr wrap="square" lIns="0" tIns="0" rIns="0" bIns="0" rtlCol="0" anchor="ctr">
            <a:normAutofit/>
          </a:bodyPr>
          <a:lstStyle/>
          <a:p>
            <a:pPr indent="0" marL="0">
              <a:buNone/>
            </a:pPr>
            <a:r>
              <a:rPr lang="en-US" sz="1000" dirty="0">
                <a:solidFill>
                  <a:srgbClr val="475569"/>
                </a:solidFill>
              </a:rPr>
              <a:t>Split batch job status from case evaluation status; fix COMPLETE gating</a:t>
            </a:r>
            <a:endParaRPr lang="en-US" sz="1000" dirty="0"/>
          </a:p>
        </p:txBody>
      </p:sp>
      <p:sp>
        <p:nvSpPr>
          <p:cNvPr id="21" name="Text 19"/>
          <p:cNvSpPr/>
          <p:nvPr/>
        </p:nvSpPr>
        <p:spPr>
          <a:xfrm>
            <a:off x="9144000" y="3447288"/>
            <a:ext cx="2148840" cy="365760"/>
          </a:xfrm>
          <a:prstGeom prst="rect">
            <a:avLst/>
          </a:prstGeom>
          <a:noFill/>
          <a:ln/>
        </p:spPr>
        <p:txBody>
          <a:bodyPr wrap="square" lIns="0" tIns="0" rIns="0" bIns="0" rtlCol="0" anchor="ctr">
            <a:normAutofit/>
          </a:bodyPr>
          <a:lstStyle/>
          <a:p>
            <a:pPr indent="0" marL="0">
              <a:buNone/>
            </a:pPr>
            <a:r>
              <a:rPr lang="en-US" sz="950" b="1" dirty="0">
                <a:solidFill>
                  <a:srgbClr val="0F172A"/>
                </a:solidFill>
              </a:rPr>
              <a:t>Correct state semantics</a:t>
            </a:r>
            <a:endParaRPr lang="en-US" sz="950" dirty="0"/>
          </a:p>
        </p:txBody>
      </p:sp>
      <p:sp>
        <p:nvSpPr>
          <p:cNvPr id="22" name="Shape 20"/>
          <p:cNvSpPr/>
          <p:nvPr/>
        </p:nvSpPr>
        <p:spPr>
          <a:xfrm>
            <a:off x="640080" y="4261104"/>
            <a:ext cx="10972800" cy="749808"/>
          </a:xfrm>
          <a:prstGeom prst="roundRect">
            <a:avLst>
              <a:gd name="adj" fmla="val 9756"/>
            </a:avLst>
          </a:prstGeom>
          <a:solidFill>
            <a:srgbClr val="F8FAFC"/>
          </a:solidFill>
          <a:ln w="10160">
            <a:solidFill>
              <a:srgbClr val="D8DEE8"/>
            </a:solidFill>
            <a:prstDash val="solid"/>
          </a:ln>
        </p:spPr>
      </p:sp>
      <p:sp>
        <p:nvSpPr>
          <p:cNvPr id="23" name="Shape 21"/>
          <p:cNvSpPr/>
          <p:nvPr/>
        </p:nvSpPr>
        <p:spPr>
          <a:xfrm>
            <a:off x="822960" y="4462272"/>
            <a:ext cx="914400" cy="274320"/>
          </a:xfrm>
          <a:prstGeom prst="roundRect">
            <a:avLst/>
          </a:prstGeom>
          <a:solidFill>
            <a:srgbClr val="0891B2"/>
          </a:solidFill>
          <a:ln w="12700">
            <a:solidFill>
              <a:srgbClr val="0891B2"/>
            </a:solidFill>
            <a:prstDash val="solid"/>
          </a:ln>
        </p:spPr>
      </p:sp>
      <p:sp>
        <p:nvSpPr>
          <p:cNvPr id="24" name="Text 22"/>
          <p:cNvSpPr/>
          <p:nvPr/>
        </p:nvSpPr>
        <p:spPr>
          <a:xfrm>
            <a:off x="868680" y="4512564"/>
            <a:ext cx="822960" cy="137160"/>
          </a:xfrm>
          <a:prstGeom prst="rect">
            <a:avLst/>
          </a:prstGeom>
          <a:noFill/>
          <a:ln/>
        </p:spPr>
        <p:txBody>
          <a:bodyPr wrap="square" lIns="0" tIns="0" rIns="0" bIns="0" rtlCol="0" anchor="ctr"/>
          <a:lstStyle/>
          <a:p>
            <a:pPr algn="ctr" indent="0" marL="0">
              <a:buNone/>
            </a:pPr>
            <a:r>
              <a:rPr lang="en-US" sz="800" b="1" dirty="0">
                <a:solidFill>
                  <a:srgbClr val="FFFFFF"/>
                </a:solidFill>
              </a:rPr>
              <a:t>10–16h</a:t>
            </a:r>
            <a:endParaRPr lang="en-US" sz="800" dirty="0"/>
          </a:p>
        </p:txBody>
      </p:sp>
      <p:sp>
        <p:nvSpPr>
          <p:cNvPr id="25" name="Text 23"/>
          <p:cNvSpPr/>
          <p:nvPr/>
        </p:nvSpPr>
        <p:spPr>
          <a:xfrm>
            <a:off x="1920240" y="4425696"/>
            <a:ext cx="1051560" cy="228600"/>
          </a:xfrm>
          <a:prstGeom prst="rect">
            <a:avLst/>
          </a:prstGeom>
          <a:noFill/>
          <a:ln/>
        </p:spPr>
        <p:txBody>
          <a:bodyPr wrap="square" lIns="0" tIns="0" rIns="0" bIns="0" rtlCol="0" anchor="ctr"/>
          <a:lstStyle/>
          <a:p>
            <a:pPr indent="0" marL="0">
              <a:buNone/>
            </a:pPr>
            <a:r>
              <a:rPr lang="en-US" sz="1100" b="1" dirty="0">
                <a:solidFill>
                  <a:srgbClr val="0F172A"/>
                </a:solidFill>
              </a:rPr>
              <a:t>Test</a:t>
            </a:r>
            <a:endParaRPr lang="en-US" sz="1100" dirty="0"/>
          </a:p>
        </p:txBody>
      </p:sp>
      <p:sp>
        <p:nvSpPr>
          <p:cNvPr id="26" name="Text 24"/>
          <p:cNvSpPr/>
          <p:nvPr/>
        </p:nvSpPr>
        <p:spPr>
          <a:xfrm>
            <a:off x="3017520" y="4379976"/>
            <a:ext cx="5943600" cy="365760"/>
          </a:xfrm>
          <a:prstGeom prst="rect">
            <a:avLst/>
          </a:prstGeom>
          <a:noFill/>
          <a:ln/>
        </p:spPr>
        <p:txBody>
          <a:bodyPr wrap="square" lIns="0" tIns="0" rIns="0" bIns="0" rtlCol="0" anchor="ctr">
            <a:normAutofit/>
          </a:bodyPr>
          <a:lstStyle/>
          <a:p>
            <a:pPr indent="0" marL="0">
              <a:buNone/>
            </a:pPr>
            <a:r>
              <a:rPr lang="en-US" sz="1000" dirty="0">
                <a:solidFill>
                  <a:srgbClr val="475569"/>
                </a:solidFill>
              </a:rPr>
              <a:t>Run 5-case golden suite with weak/strong pairs; assert expected fields</a:t>
            </a:r>
            <a:endParaRPr lang="en-US" sz="1000" dirty="0"/>
          </a:p>
        </p:txBody>
      </p:sp>
      <p:sp>
        <p:nvSpPr>
          <p:cNvPr id="27" name="Text 25"/>
          <p:cNvSpPr/>
          <p:nvPr/>
        </p:nvSpPr>
        <p:spPr>
          <a:xfrm>
            <a:off x="9144000" y="4379976"/>
            <a:ext cx="2148840" cy="365760"/>
          </a:xfrm>
          <a:prstGeom prst="rect">
            <a:avLst/>
          </a:prstGeom>
          <a:noFill/>
          <a:ln/>
        </p:spPr>
        <p:txBody>
          <a:bodyPr wrap="square" lIns="0" tIns="0" rIns="0" bIns="0" rtlCol="0" anchor="ctr">
            <a:normAutofit/>
          </a:bodyPr>
          <a:lstStyle/>
          <a:p>
            <a:pPr indent="0" marL="0">
              <a:buNone/>
            </a:pPr>
            <a:r>
              <a:rPr lang="en-US" sz="950" b="1" dirty="0">
                <a:solidFill>
                  <a:srgbClr val="0F172A"/>
                </a:solidFill>
              </a:rPr>
              <a:t>Functional proof</a:t>
            </a:r>
            <a:endParaRPr lang="en-US" sz="950" dirty="0"/>
          </a:p>
        </p:txBody>
      </p:sp>
      <p:sp>
        <p:nvSpPr>
          <p:cNvPr id="28" name="Shape 26"/>
          <p:cNvSpPr/>
          <p:nvPr/>
        </p:nvSpPr>
        <p:spPr>
          <a:xfrm>
            <a:off x="640080" y="5193792"/>
            <a:ext cx="10972800" cy="749808"/>
          </a:xfrm>
          <a:prstGeom prst="roundRect">
            <a:avLst>
              <a:gd name="adj" fmla="val 9756"/>
            </a:avLst>
          </a:prstGeom>
          <a:solidFill>
            <a:srgbClr val="FFFFFF"/>
          </a:solidFill>
          <a:ln w="10160">
            <a:solidFill>
              <a:srgbClr val="D8DEE8"/>
            </a:solidFill>
            <a:prstDash val="solid"/>
          </a:ln>
        </p:spPr>
      </p:sp>
      <p:sp>
        <p:nvSpPr>
          <p:cNvPr id="29" name="Shape 27"/>
          <p:cNvSpPr/>
          <p:nvPr/>
        </p:nvSpPr>
        <p:spPr>
          <a:xfrm>
            <a:off x="822960" y="5394960"/>
            <a:ext cx="914400" cy="274320"/>
          </a:xfrm>
          <a:prstGeom prst="roundRect">
            <a:avLst/>
          </a:prstGeom>
          <a:solidFill>
            <a:srgbClr val="059669"/>
          </a:solidFill>
          <a:ln w="12700">
            <a:solidFill>
              <a:srgbClr val="059669"/>
            </a:solidFill>
            <a:prstDash val="solid"/>
          </a:ln>
        </p:spPr>
      </p:sp>
      <p:sp>
        <p:nvSpPr>
          <p:cNvPr id="30" name="Text 28"/>
          <p:cNvSpPr/>
          <p:nvPr/>
        </p:nvSpPr>
        <p:spPr>
          <a:xfrm>
            <a:off x="868680" y="5445252"/>
            <a:ext cx="822960" cy="137160"/>
          </a:xfrm>
          <a:prstGeom prst="rect">
            <a:avLst/>
          </a:prstGeom>
          <a:noFill/>
          <a:ln/>
        </p:spPr>
        <p:txBody>
          <a:bodyPr wrap="square" lIns="0" tIns="0" rIns="0" bIns="0" rtlCol="0" anchor="ctr"/>
          <a:lstStyle/>
          <a:p>
            <a:pPr algn="ctr" indent="0" marL="0">
              <a:buNone/>
            </a:pPr>
            <a:r>
              <a:rPr lang="en-US" sz="800" b="1" dirty="0">
                <a:solidFill>
                  <a:srgbClr val="FFFFFF"/>
                </a:solidFill>
              </a:rPr>
              <a:t>16–24h</a:t>
            </a:r>
            <a:endParaRPr lang="en-US" sz="800" dirty="0"/>
          </a:p>
        </p:txBody>
      </p:sp>
      <p:sp>
        <p:nvSpPr>
          <p:cNvPr id="31" name="Text 29"/>
          <p:cNvSpPr/>
          <p:nvPr/>
        </p:nvSpPr>
        <p:spPr>
          <a:xfrm>
            <a:off x="1920240" y="5358384"/>
            <a:ext cx="1051560" cy="228600"/>
          </a:xfrm>
          <a:prstGeom prst="rect">
            <a:avLst/>
          </a:prstGeom>
          <a:noFill/>
          <a:ln/>
        </p:spPr>
        <p:txBody>
          <a:bodyPr wrap="square" lIns="0" tIns="0" rIns="0" bIns="0" rtlCol="0" anchor="ctr"/>
          <a:lstStyle/>
          <a:p>
            <a:pPr indent="0" marL="0">
              <a:buNone/>
            </a:pPr>
            <a:r>
              <a:rPr lang="en-US" sz="1100" b="1" dirty="0">
                <a:solidFill>
                  <a:srgbClr val="0F172A"/>
                </a:solidFill>
              </a:rPr>
              <a:t>Scale</a:t>
            </a:r>
            <a:endParaRPr lang="en-US" sz="1100" dirty="0"/>
          </a:p>
        </p:txBody>
      </p:sp>
      <p:sp>
        <p:nvSpPr>
          <p:cNvPr id="32" name="Text 30"/>
          <p:cNvSpPr/>
          <p:nvPr/>
        </p:nvSpPr>
        <p:spPr>
          <a:xfrm>
            <a:off x="3017520" y="5312664"/>
            <a:ext cx="5943600" cy="365760"/>
          </a:xfrm>
          <a:prstGeom prst="rect">
            <a:avLst/>
          </a:prstGeom>
          <a:noFill/>
          <a:ln/>
        </p:spPr>
        <p:txBody>
          <a:bodyPr wrap="square" lIns="0" tIns="0" rIns="0" bIns="0" rtlCol="0" anchor="ctr">
            <a:normAutofit/>
          </a:bodyPr>
          <a:lstStyle/>
          <a:p>
            <a:pPr indent="0" marL="0">
              <a:buNone/>
            </a:pPr>
            <a:r>
              <a:rPr lang="en-US" sz="1000" dirty="0">
                <a:solidFill>
                  <a:srgbClr val="475569"/>
                </a:solidFill>
              </a:rPr>
              <a:t>Run 90 cases, then repeat 3×; publish variance and failures</a:t>
            </a:r>
            <a:endParaRPr lang="en-US" sz="1000" dirty="0"/>
          </a:p>
        </p:txBody>
      </p:sp>
      <p:sp>
        <p:nvSpPr>
          <p:cNvPr id="33" name="Text 31"/>
          <p:cNvSpPr/>
          <p:nvPr/>
        </p:nvSpPr>
        <p:spPr>
          <a:xfrm>
            <a:off x="9144000" y="5312664"/>
            <a:ext cx="2148840" cy="365760"/>
          </a:xfrm>
          <a:prstGeom prst="rect">
            <a:avLst/>
          </a:prstGeom>
          <a:noFill/>
          <a:ln/>
        </p:spPr>
        <p:txBody>
          <a:bodyPr wrap="square" lIns="0" tIns="0" rIns="0" bIns="0" rtlCol="0" anchor="ctr">
            <a:normAutofit/>
          </a:bodyPr>
          <a:lstStyle/>
          <a:p>
            <a:pPr indent="0" marL="0">
              <a:buNone/>
            </a:pPr>
            <a:r>
              <a:rPr lang="en-US" sz="950" b="1" dirty="0">
                <a:solidFill>
                  <a:srgbClr val="0F172A"/>
                </a:solidFill>
              </a:rPr>
              <a:t>Benchmark-grade evidence</a:t>
            </a:r>
            <a:endParaRPr lang="en-US" sz="95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Target technical dashboard: make evidence quality visible in real time</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A benchmark operator should be able to distinguish provider latency, normalization failures and scoring outcomes immediately.</a:t>
            </a:r>
            <a:endParaRPr lang="en-US" sz="1150" dirty="0"/>
          </a:p>
        </p:txBody>
      </p:sp>
      <p:sp>
        <p:nvSpPr>
          <p:cNvPr id="4" name="Shape 2"/>
          <p:cNvSpPr/>
          <p:nvPr/>
        </p:nvSpPr>
        <p:spPr>
          <a:xfrm>
            <a:off x="594360" y="1325880"/>
            <a:ext cx="2057400" cy="914400"/>
          </a:xfrm>
          <a:prstGeom prst="roundRect">
            <a:avLst>
              <a:gd name="adj" fmla="val 8000"/>
            </a:avLst>
          </a:prstGeom>
          <a:solidFill>
            <a:srgbClr val="FFFFFF"/>
          </a:solidFill>
          <a:ln w="10160">
            <a:solidFill>
              <a:srgbClr val="D8DEE8"/>
            </a:solidFill>
            <a:prstDash val="solid"/>
          </a:ln>
        </p:spPr>
      </p:sp>
      <p:sp>
        <p:nvSpPr>
          <p:cNvPr id="5" name="Shape 3"/>
          <p:cNvSpPr/>
          <p:nvPr/>
        </p:nvSpPr>
        <p:spPr>
          <a:xfrm>
            <a:off x="594360" y="1325880"/>
            <a:ext cx="54864" cy="914400"/>
          </a:xfrm>
          <a:prstGeom prst="rect">
            <a:avLst/>
          </a:prstGeom>
          <a:solidFill>
            <a:srgbClr val="059669"/>
          </a:solidFill>
          <a:ln w="12700">
            <a:solidFill>
              <a:srgbClr val="059669"/>
            </a:solidFill>
            <a:prstDash val="solid"/>
          </a:ln>
        </p:spPr>
      </p:sp>
      <p:sp>
        <p:nvSpPr>
          <p:cNvPr id="6" name="Text 4"/>
          <p:cNvSpPr/>
          <p:nvPr/>
        </p:nvSpPr>
        <p:spPr>
          <a:xfrm>
            <a:off x="758952" y="1435608"/>
            <a:ext cx="1801368" cy="384048"/>
          </a:xfrm>
          <a:prstGeom prst="rect">
            <a:avLst/>
          </a:prstGeom>
          <a:noFill/>
          <a:ln/>
        </p:spPr>
        <p:txBody>
          <a:bodyPr wrap="square" lIns="0" tIns="0" rIns="0" bIns="0" rtlCol="0" anchor="ctr"/>
          <a:lstStyle/>
          <a:p>
            <a:pPr indent="0" marL="0">
              <a:buNone/>
            </a:pPr>
            <a:r>
              <a:rPr lang="en-US" sz="2400" b="1" dirty="0">
                <a:solidFill>
                  <a:srgbClr val="0F172A"/>
                </a:solidFill>
              </a:rPr>
              <a:t>90 / 90</a:t>
            </a:r>
            <a:endParaRPr lang="en-US" sz="2400" dirty="0"/>
          </a:p>
        </p:txBody>
      </p:sp>
      <p:sp>
        <p:nvSpPr>
          <p:cNvPr id="7" name="Text 5"/>
          <p:cNvSpPr/>
          <p:nvPr/>
        </p:nvSpPr>
        <p:spPr>
          <a:xfrm>
            <a:off x="758952" y="1837944"/>
            <a:ext cx="1801368" cy="182880"/>
          </a:xfrm>
          <a:prstGeom prst="rect">
            <a:avLst/>
          </a:prstGeom>
          <a:noFill/>
          <a:ln/>
        </p:spPr>
        <p:txBody>
          <a:bodyPr wrap="square" lIns="0" tIns="0" rIns="0" bIns="0" rtlCol="0" anchor="ctr"/>
          <a:lstStyle/>
          <a:p>
            <a:pPr indent="0" marL="0">
              <a:buNone/>
            </a:pPr>
            <a:r>
              <a:rPr lang="en-US" sz="900" b="1" dirty="0">
                <a:solidFill>
                  <a:srgbClr val="475569"/>
                </a:solidFill>
              </a:rPr>
              <a:t>CASES</a:t>
            </a:r>
            <a:endParaRPr lang="en-US" sz="900" dirty="0"/>
          </a:p>
        </p:txBody>
      </p:sp>
      <p:sp>
        <p:nvSpPr>
          <p:cNvPr id="8" name="Shape 6"/>
          <p:cNvSpPr/>
          <p:nvPr/>
        </p:nvSpPr>
        <p:spPr>
          <a:xfrm>
            <a:off x="2788920" y="1325880"/>
            <a:ext cx="2057400" cy="914400"/>
          </a:xfrm>
          <a:prstGeom prst="roundRect">
            <a:avLst>
              <a:gd name="adj" fmla="val 8000"/>
            </a:avLst>
          </a:prstGeom>
          <a:solidFill>
            <a:srgbClr val="FFFFFF"/>
          </a:solidFill>
          <a:ln w="10160">
            <a:solidFill>
              <a:srgbClr val="D8DEE8"/>
            </a:solidFill>
            <a:prstDash val="solid"/>
          </a:ln>
        </p:spPr>
      </p:sp>
      <p:sp>
        <p:nvSpPr>
          <p:cNvPr id="9" name="Shape 7"/>
          <p:cNvSpPr/>
          <p:nvPr/>
        </p:nvSpPr>
        <p:spPr>
          <a:xfrm>
            <a:off x="2788920" y="1325880"/>
            <a:ext cx="54864" cy="914400"/>
          </a:xfrm>
          <a:prstGeom prst="rect">
            <a:avLst/>
          </a:prstGeom>
          <a:solidFill>
            <a:srgbClr val="059669"/>
          </a:solidFill>
          <a:ln w="12700">
            <a:solidFill>
              <a:srgbClr val="059669"/>
            </a:solidFill>
            <a:prstDash val="solid"/>
          </a:ln>
        </p:spPr>
      </p:sp>
      <p:sp>
        <p:nvSpPr>
          <p:cNvPr id="10" name="Text 8"/>
          <p:cNvSpPr/>
          <p:nvPr/>
        </p:nvSpPr>
        <p:spPr>
          <a:xfrm>
            <a:off x="2953512" y="1435608"/>
            <a:ext cx="1801368" cy="384048"/>
          </a:xfrm>
          <a:prstGeom prst="rect">
            <a:avLst/>
          </a:prstGeom>
          <a:noFill/>
          <a:ln/>
        </p:spPr>
        <p:txBody>
          <a:bodyPr wrap="square" lIns="0" tIns="0" rIns="0" bIns="0" rtlCol="0" anchor="ctr"/>
          <a:lstStyle/>
          <a:p>
            <a:pPr indent="0" marL="0">
              <a:buNone/>
            </a:pPr>
            <a:r>
              <a:rPr lang="en-US" sz="2400" b="1" dirty="0">
                <a:solidFill>
                  <a:srgbClr val="0F172A"/>
                </a:solidFill>
              </a:rPr>
              <a:t>90</a:t>
            </a:r>
            <a:endParaRPr lang="en-US" sz="2400" dirty="0"/>
          </a:p>
        </p:txBody>
      </p:sp>
      <p:sp>
        <p:nvSpPr>
          <p:cNvPr id="11" name="Text 9"/>
          <p:cNvSpPr/>
          <p:nvPr/>
        </p:nvSpPr>
        <p:spPr>
          <a:xfrm>
            <a:off x="2953512" y="1837944"/>
            <a:ext cx="1801368" cy="182880"/>
          </a:xfrm>
          <a:prstGeom prst="rect">
            <a:avLst/>
          </a:prstGeom>
          <a:noFill/>
          <a:ln/>
        </p:spPr>
        <p:txBody>
          <a:bodyPr wrap="square" lIns="0" tIns="0" rIns="0" bIns="0" rtlCol="0" anchor="ctr"/>
          <a:lstStyle/>
          <a:p>
            <a:pPr indent="0" marL="0">
              <a:buNone/>
            </a:pPr>
            <a:r>
              <a:rPr lang="en-US" sz="900" b="1" dirty="0">
                <a:solidFill>
                  <a:srgbClr val="475569"/>
                </a:solidFill>
              </a:rPr>
              <a:t>VALID RESULTS</a:t>
            </a:r>
            <a:endParaRPr lang="en-US" sz="900" dirty="0"/>
          </a:p>
        </p:txBody>
      </p:sp>
      <p:sp>
        <p:nvSpPr>
          <p:cNvPr id="12" name="Shape 10"/>
          <p:cNvSpPr/>
          <p:nvPr/>
        </p:nvSpPr>
        <p:spPr>
          <a:xfrm>
            <a:off x="4983480" y="1325880"/>
            <a:ext cx="2057400" cy="914400"/>
          </a:xfrm>
          <a:prstGeom prst="roundRect">
            <a:avLst>
              <a:gd name="adj" fmla="val 8000"/>
            </a:avLst>
          </a:prstGeom>
          <a:solidFill>
            <a:srgbClr val="FFFFFF"/>
          </a:solidFill>
          <a:ln w="10160">
            <a:solidFill>
              <a:srgbClr val="D8DEE8"/>
            </a:solidFill>
            <a:prstDash val="solid"/>
          </a:ln>
        </p:spPr>
      </p:sp>
      <p:sp>
        <p:nvSpPr>
          <p:cNvPr id="13" name="Shape 11"/>
          <p:cNvSpPr/>
          <p:nvPr/>
        </p:nvSpPr>
        <p:spPr>
          <a:xfrm>
            <a:off x="4983480" y="1325880"/>
            <a:ext cx="54864" cy="914400"/>
          </a:xfrm>
          <a:prstGeom prst="rect">
            <a:avLst/>
          </a:prstGeom>
          <a:solidFill>
            <a:srgbClr val="059669"/>
          </a:solidFill>
          <a:ln w="12700">
            <a:solidFill>
              <a:srgbClr val="059669"/>
            </a:solidFill>
            <a:prstDash val="solid"/>
          </a:ln>
        </p:spPr>
      </p:sp>
      <p:sp>
        <p:nvSpPr>
          <p:cNvPr id="14" name="Text 12"/>
          <p:cNvSpPr/>
          <p:nvPr/>
        </p:nvSpPr>
        <p:spPr>
          <a:xfrm>
            <a:off x="5148072" y="1435608"/>
            <a:ext cx="1801368" cy="384048"/>
          </a:xfrm>
          <a:prstGeom prst="rect">
            <a:avLst/>
          </a:prstGeom>
          <a:noFill/>
          <a:ln/>
        </p:spPr>
        <p:txBody>
          <a:bodyPr wrap="square" lIns="0" tIns="0" rIns="0" bIns="0" rtlCol="0" anchor="ctr"/>
          <a:lstStyle/>
          <a:p>
            <a:pPr indent="0" marL="0">
              <a:buNone/>
            </a:pPr>
            <a:r>
              <a:rPr lang="en-US" sz="2400" b="1" dirty="0">
                <a:solidFill>
                  <a:srgbClr val="0F172A"/>
                </a:solidFill>
              </a:rPr>
              <a:t>0</a:t>
            </a:r>
            <a:endParaRPr lang="en-US" sz="2400" dirty="0"/>
          </a:p>
        </p:txBody>
      </p:sp>
      <p:sp>
        <p:nvSpPr>
          <p:cNvPr id="15" name="Text 13"/>
          <p:cNvSpPr/>
          <p:nvPr/>
        </p:nvSpPr>
        <p:spPr>
          <a:xfrm>
            <a:off x="5148072" y="1837944"/>
            <a:ext cx="1801368" cy="182880"/>
          </a:xfrm>
          <a:prstGeom prst="rect">
            <a:avLst/>
          </a:prstGeom>
          <a:noFill/>
          <a:ln/>
        </p:spPr>
        <p:txBody>
          <a:bodyPr wrap="square" lIns="0" tIns="0" rIns="0" bIns="0" rtlCol="0" anchor="ctr"/>
          <a:lstStyle/>
          <a:p>
            <a:pPr indent="0" marL="0">
              <a:buNone/>
            </a:pPr>
            <a:r>
              <a:rPr lang="en-US" sz="900" b="1" dirty="0">
                <a:solidFill>
                  <a:srgbClr val="475569"/>
                </a:solidFill>
              </a:rPr>
              <a:t>SCHEMA ERRORS</a:t>
            </a:r>
            <a:endParaRPr lang="en-US" sz="900" dirty="0"/>
          </a:p>
        </p:txBody>
      </p:sp>
      <p:sp>
        <p:nvSpPr>
          <p:cNvPr id="16" name="Shape 14"/>
          <p:cNvSpPr/>
          <p:nvPr/>
        </p:nvSpPr>
        <p:spPr>
          <a:xfrm>
            <a:off x="7178040" y="1325880"/>
            <a:ext cx="2057400" cy="914400"/>
          </a:xfrm>
          <a:prstGeom prst="roundRect">
            <a:avLst>
              <a:gd name="adj" fmla="val 8000"/>
            </a:avLst>
          </a:prstGeom>
          <a:solidFill>
            <a:srgbClr val="FFFFFF"/>
          </a:solidFill>
          <a:ln w="10160">
            <a:solidFill>
              <a:srgbClr val="D8DEE8"/>
            </a:solidFill>
            <a:prstDash val="solid"/>
          </a:ln>
        </p:spPr>
      </p:sp>
      <p:sp>
        <p:nvSpPr>
          <p:cNvPr id="17" name="Shape 15"/>
          <p:cNvSpPr/>
          <p:nvPr/>
        </p:nvSpPr>
        <p:spPr>
          <a:xfrm>
            <a:off x="7178040" y="1325880"/>
            <a:ext cx="54864" cy="914400"/>
          </a:xfrm>
          <a:prstGeom prst="rect">
            <a:avLst/>
          </a:prstGeom>
          <a:solidFill>
            <a:srgbClr val="2563EB"/>
          </a:solidFill>
          <a:ln w="12700">
            <a:solidFill>
              <a:srgbClr val="2563EB"/>
            </a:solidFill>
            <a:prstDash val="solid"/>
          </a:ln>
        </p:spPr>
      </p:sp>
      <p:sp>
        <p:nvSpPr>
          <p:cNvPr id="18" name="Text 16"/>
          <p:cNvSpPr/>
          <p:nvPr/>
        </p:nvSpPr>
        <p:spPr>
          <a:xfrm>
            <a:off x="7342632" y="1435608"/>
            <a:ext cx="1801368" cy="384048"/>
          </a:xfrm>
          <a:prstGeom prst="rect">
            <a:avLst/>
          </a:prstGeom>
          <a:noFill/>
          <a:ln/>
        </p:spPr>
        <p:txBody>
          <a:bodyPr wrap="square" lIns="0" tIns="0" rIns="0" bIns="0" rtlCol="0" anchor="ctr"/>
          <a:lstStyle/>
          <a:p>
            <a:pPr indent="0" marL="0">
              <a:buNone/>
            </a:pPr>
            <a:r>
              <a:rPr lang="en-US" sz="2400" b="1" dirty="0">
                <a:solidFill>
                  <a:srgbClr val="0F172A"/>
                </a:solidFill>
              </a:rPr>
              <a:t>—</a:t>
            </a:r>
            <a:endParaRPr lang="en-US" sz="2400" dirty="0"/>
          </a:p>
        </p:txBody>
      </p:sp>
      <p:sp>
        <p:nvSpPr>
          <p:cNvPr id="19" name="Text 17"/>
          <p:cNvSpPr/>
          <p:nvPr/>
        </p:nvSpPr>
        <p:spPr>
          <a:xfrm>
            <a:off x="7342632" y="1837944"/>
            <a:ext cx="1801368" cy="182880"/>
          </a:xfrm>
          <a:prstGeom prst="rect">
            <a:avLst/>
          </a:prstGeom>
          <a:noFill/>
          <a:ln/>
        </p:spPr>
        <p:txBody>
          <a:bodyPr wrap="square" lIns="0" tIns="0" rIns="0" bIns="0" rtlCol="0" anchor="ctr"/>
          <a:lstStyle/>
          <a:p>
            <a:pPr indent="0" marL="0">
              <a:buNone/>
            </a:pPr>
            <a:r>
              <a:rPr lang="en-US" sz="900" b="1" dirty="0">
                <a:solidFill>
                  <a:srgbClr val="475569"/>
                </a:solidFill>
              </a:rPr>
              <a:t>P95 LATENCY</a:t>
            </a:r>
            <a:endParaRPr lang="en-US" sz="900" dirty="0"/>
          </a:p>
        </p:txBody>
      </p:sp>
      <p:sp>
        <p:nvSpPr>
          <p:cNvPr id="20" name="Text 18"/>
          <p:cNvSpPr/>
          <p:nvPr/>
        </p:nvSpPr>
        <p:spPr>
          <a:xfrm>
            <a:off x="7342632" y="2029968"/>
            <a:ext cx="1801368" cy="137160"/>
          </a:xfrm>
          <a:prstGeom prst="rect">
            <a:avLst/>
          </a:prstGeom>
          <a:noFill/>
          <a:ln/>
        </p:spPr>
        <p:txBody>
          <a:bodyPr wrap="square" lIns="0" tIns="0" rIns="0" bIns="0" rtlCol="0" anchor="ctr"/>
          <a:lstStyle/>
          <a:p>
            <a:pPr indent="0" marL="0">
              <a:buNone/>
            </a:pPr>
            <a:r>
              <a:rPr lang="en-US" sz="750" dirty="0">
                <a:solidFill>
                  <a:srgbClr val="64748B"/>
                </a:solidFill>
              </a:rPr>
              <a:t>populate from telemetry</a:t>
            </a:r>
            <a:endParaRPr lang="en-US" sz="750" dirty="0"/>
          </a:p>
        </p:txBody>
      </p:sp>
      <p:sp>
        <p:nvSpPr>
          <p:cNvPr id="21" name="Shape 19"/>
          <p:cNvSpPr/>
          <p:nvPr/>
        </p:nvSpPr>
        <p:spPr>
          <a:xfrm>
            <a:off x="9372600" y="1325880"/>
            <a:ext cx="2057400" cy="914400"/>
          </a:xfrm>
          <a:prstGeom prst="roundRect">
            <a:avLst>
              <a:gd name="adj" fmla="val 8000"/>
            </a:avLst>
          </a:prstGeom>
          <a:solidFill>
            <a:srgbClr val="FFFFFF"/>
          </a:solidFill>
          <a:ln w="10160">
            <a:solidFill>
              <a:srgbClr val="D8DEE8"/>
            </a:solidFill>
            <a:prstDash val="solid"/>
          </a:ln>
        </p:spPr>
      </p:sp>
      <p:sp>
        <p:nvSpPr>
          <p:cNvPr id="22" name="Shape 20"/>
          <p:cNvSpPr/>
          <p:nvPr/>
        </p:nvSpPr>
        <p:spPr>
          <a:xfrm>
            <a:off x="9372600" y="1325880"/>
            <a:ext cx="54864" cy="914400"/>
          </a:xfrm>
          <a:prstGeom prst="rect">
            <a:avLst/>
          </a:prstGeom>
          <a:solidFill>
            <a:srgbClr val="2563EB"/>
          </a:solidFill>
          <a:ln w="12700">
            <a:solidFill>
              <a:srgbClr val="2563EB"/>
            </a:solidFill>
            <a:prstDash val="solid"/>
          </a:ln>
        </p:spPr>
      </p:sp>
      <p:sp>
        <p:nvSpPr>
          <p:cNvPr id="23" name="Text 21"/>
          <p:cNvSpPr/>
          <p:nvPr/>
        </p:nvSpPr>
        <p:spPr>
          <a:xfrm>
            <a:off x="9537192" y="1435608"/>
            <a:ext cx="1801368" cy="384048"/>
          </a:xfrm>
          <a:prstGeom prst="rect">
            <a:avLst/>
          </a:prstGeom>
          <a:noFill/>
          <a:ln/>
        </p:spPr>
        <p:txBody>
          <a:bodyPr wrap="square" lIns="0" tIns="0" rIns="0" bIns="0" rtlCol="0" anchor="ctr"/>
          <a:lstStyle/>
          <a:p>
            <a:pPr indent="0" marL="0">
              <a:buNone/>
            </a:pPr>
            <a:r>
              <a:rPr lang="en-US" sz="2400" b="1" dirty="0">
                <a:solidFill>
                  <a:srgbClr val="0F172A"/>
                </a:solidFill>
              </a:rPr>
              <a:t>—</a:t>
            </a:r>
            <a:endParaRPr lang="en-US" sz="2400" dirty="0"/>
          </a:p>
        </p:txBody>
      </p:sp>
      <p:sp>
        <p:nvSpPr>
          <p:cNvPr id="24" name="Text 22"/>
          <p:cNvSpPr/>
          <p:nvPr/>
        </p:nvSpPr>
        <p:spPr>
          <a:xfrm>
            <a:off x="9537192" y="1837944"/>
            <a:ext cx="1801368" cy="182880"/>
          </a:xfrm>
          <a:prstGeom prst="rect">
            <a:avLst/>
          </a:prstGeom>
          <a:noFill/>
          <a:ln/>
        </p:spPr>
        <p:txBody>
          <a:bodyPr wrap="square" lIns="0" tIns="0" rIns="0" bIns="0" rtlCol="0" anchor="ctr"/>
          <a:lstStyle/>
          <a:p>
            <a:pPr indent="0" marL="0">
              <a:buNone/>
            </a:pPr>
            <a:r>
              <a:rPr lang="en-US" sz="900" b="1" dirty="0">
                <a:solidFill>
                  <a:srgbClr val="475569"/>
                </a:solidFill>
              </a:rPr>
              <a:t>PASS RATE</a:t>
            </a:r>
            <a:endParaRPr lang="en-US" sz="900" dirty="0"/>
          </a:p>
        </p:txBody>
      </p:sp>
      <p:sp>
        <p:nvSpPr>
          <p:cNvPr id="25" name="Text 23"/>
          <p:cNvSpPr/>
          <p:nvPr/>
        </p:nvSpPr>
        <p:spPr>
          <a:xfrm>
            <a:off x="9537192" y="2029968"/>
            <a:ext cx="1801368" cy="137160"/>
          </a:xfrm>
          <a:prstGeom prst="rect">
            <a:avLst/>
          </a:prstGeom>
          <a:noFill/>
          <a:ln/>
        </p:spPr>
        <p:txBody>
          <a:bodyPr wrap="square" lIns="0" tIns="0" rIns="0" bIns="0" rtlCol="0" anchor="ctr"/>
          <a:lstStyle/>
          <a:p>
            <a:pPr indent="0" marL="0">
              <a:buNone/>
            </a:pPr>
            <a:r>
              <a:rPr lang="en-US" sz="750" dirty="0">
                <a:solidFill>
                  <a:srgbClr val="64748B"/>
                </a:solidFill>
              </a:rPr>
              <a:t>after valid scoring</a:t>
            </a:r>
            <a:endParaRPr lang="en-US" sz="750" dirty="0"/>
          </a:p>
        </p:txBody>
      </p:sp>
      <p:sp>
        <p:nvSpPr>
          <p:cNvPr id="26" name="Shape 24"/>
          <p:cNvSpPr/>
          <p:nvPr/>
        </p:nvSpPr>
        <p:spPr>
          <a:xfrm>
            <a:off x="594360" y="2560320"/>
            <a:ext cx="6903720" cy="3063240"/>
          </a:xfrm>
          <a:prstGeom prst="roundRect">
            <a:avLst>
              <a:gd name="adj" fmla="val 2388"/>
            </a:avLst>
          </a:prstGeom>
          <a:solidFill>
            <a:srgbClr val="FFFFFF"/>
          </a:solidFill>
          <a:ln w="10160">
            <a:solidFill>
              <a:srgbClr val="D8DEE8"/>
            </a:solidFill>
            <a:prstDash val="solid"/>
          </a:ln>
        </p:spPr>
      </p:sp>
      <p:sp>
        <p:nvSpPr>
          <p:cNvPr id="27" name="Text 25"/>
          <p:cNvSpPr/>
          <p:nvPr/>
        </p:nvSpPr>
        <p:spPr>
          <a:xfrm>
            <a:off x="868680" y="2816352"/>
            <a:ext cx="1645920" cy="228600"/>
          </a:xfrm>
          <a:prstGeom prst="rect">
            <a:avLst/>
          </a:prstGeom>
          <a:noFill/>
          <a:ln/>
        </p:spPr>
        <p:txBody>
          <a:bodyPr wrap="square" lIns="0" tIns="0" rIns="0" bIns="0" rtlCol="0" anchor="ctr"/>
          <a:lstStyle/>
          <a:p>
            <a:pPr indent="0" marL="0">
              <a:buNone/>
            </a:pPr>
            <a:r>
              <a:rPr lang="en-US" sz="1000" b="1" dirty="0">
                <a:solidFill>
                  <a:srgbClr val="2563EB"/>
                </a:solidFill>
              </a:rPr>
              <a:t>CASE PIPELINE</a:t>
            </a:r>
            <a:endParaRPr lang="en-US" sz="1000" dirty="0"/>
          </a:p>
        </p:txBody>
      </p:sp>
      <p:sp>
        <p:nvSpPr>
          <p:cNvPr id="28" name="Text 26"/>
          <p:cNvSpPr/>
          <p:nvPr/>
        </p:nvSpPr>
        <p:spPr>
          <a:xfrm>
            <a:off x="868680" y="3246120"/>
            <a:ext cx="1143000" cy="182880"/>
          </a:xfrm>
          <a:prstGeom prst="rect">
            <a:avLst/>
          </a:prstGeom>
          <a:noFill/>
          <a:ln/>
        </p:spPr>
        <p:txBody>
          <a:bodyPr wrap="square" lIns="0" tIns="0" rIns="0" bIns="0" rtlCol="0" anchor="ctr"/>
          <a:lstStyle/>
          <a:p>
            <a:pPr indent="0" marL="0">
              <a:buNone/>
            </a:pPr>
            <a:r>
              <a:rPr lang="en-US" sz="950" dirty="0">
                <a:solidFill>
                  <a:srgbClr val="475569"/>
                </a:solidFill>
              </a:rPr>
              <a:t>Received</a:t>
            </a:r>
            <a:endParaRPr lang="en-US" sz="950" dirty="0"/>
          </a:p>
        </p:txBody>
      </p:sp>
      <p:sp>
        <p:nvSpPr>
          <p:cNvPr id="29" name="Shape 27"/>
          <p:cNvSpPr/>
          <p:nvPr/>
        </p:nvSpPr>
        <p:spPr>
          <a:xfrm>
            <a:off x="2057400" y="3273552"/>
            <a:ext cx="4297680" cy="146304"/>
          </a:xfrm>
          <a:prstGeom prst="rect">
            <a:avLst/>
          </a:prstGeom>
          <a:solidFill>
            <a:srgbClr val="E2E8F0"/>
          </a:solidFill>
          <a:ln w="12700">
            <a:solidFill>
              <a:srgbClr val="E2E8F0"/>
            </a:solidFill>
            <a:prstDash val="solid"/>
          </a:ln>
        </p:spPr>
      </p:sp>
      <p:sp>
        <p:nvSpPr>
          <p:cNvPr id="30" name="Shape 28"/>
          <p:cNvSpPr/>
          <p:nvPr/>
        </p:nvSpPr>
        <p:spPr>
          <a:xfrm>
            <a:off x="2057400" y="3273552"/>
            <a:ext cx="4297680" cy="146304"/>
          </a:xfrm>
          <a:prstGeom prst="rect">
            <a:avLst/>
          </a:prstGeom>
          <a:solidFill>
            <a:srgbClr val="2563EB"/>
          </a:solidFill>
          <a:ln w="12700">
            <a:solidFill>
              <a:srgbClr val="2563EB"/>
            </a:solidFill>
            <a:prstDash val="solid"/>
          </a:ln>
        </p:spPr>
      </p:sp>
      <p:sp>
        <p:nvSpPr>
          <p:cNvPr id="31" name="Text 29"/>
          <p:cNvSpPr/>
          <p:nvPr/>
        </p:nvSpPr>
        <p:spPr>
          <a:xfrm>
            <a:off x="6492240" y="3246120"/>
            <a:ext cx="411480" cy="182880"/>
          </a:xfrm>
          <a:prstGeom prst="rect">
            <a:avLst/>
          </a:prstGeom>
          <a:noFill/>
          <a:ln/>
        </p:spPr>
        <p:txBody>
          <a:bodyPr wrap="square" lIns="0" tIns="0" rIns="0" bIns="0" rtlCol="0" anchor="ctr"/>
          <a:lstStyle/>
          <a:p>
            <a:pPr algn="r" indent="0" marL="0">
              <a:buNone/>
            </a:pPr>
            <a:r>
              <a:rPr lang="en-US" sz="950" b="1" dirty="0">
                <a:solidFill>
                  <a:srgbClr val="0F172A"/>
                </a:solidFill>
              </a:rPr>
              <a:t>90</a:t>
            </a:r>
            <a:endParaRPr lang="en-US" sz="950" dirty="0"/>
          </a:p>
        </p:txBody>
      </p:sp>
      <p:sp>
        <p:nvSpPr>
          <p:cNvPr id="32" name="Text 30"/>
          <p:cNvSpPr/>
          <p:nvPr/>
        </p:nvSpPr>
        <p:spPr>
          <a:xfrm>
            <a:off x="868680" y="3685032"/>
            <a:ext cx="1143000" cy="182880"/>
          </a:xfrm>
          <a:prstGeom prst="rect">
            <a:avLst/>
          </a:prstGeom>
          <a:noFill/>
          <a:ln/>
        </p:spPr>
        <p:txBody>
          <a:bodyPr wrap="square" lIns="0" tIns="0" rIns="0" bIns="0" rtlCol="0" anchor="ctr"/>
          <a:lstStyle/>
          <a:p>
            <a:pPr indent="0" marL="0">
              <a:buNone/>
            </a:pPr>
            <a:r>
              <a:rPr lang="en-US" sz="950" dirty="0">
                <a:solidFill>
                  <a:srgbClr val="475569"/>
                </a:solidFill>
              </a:rPr>
              <a:t>Deterministic</a:t>
            </a:r>
            <a:endParaRPr lang="en-US" sz="950" dirty="0"/>
          </a:p>
        </p:txBody>
      </p:sp>
      <p:sp>
        <p:nvSpPr>
          <p:cNvPr id="33" name="Shape 31"/>
          <p:cNvSpPr/>
          <p:nvPr/>
        </p:nvSpPr>
        <p:spPr>
          <a:xfrm>
            <a:off x="2057400" y="3712464"/>
            <a:ext cx="4297680" cy="146304"/>
          </a:xfrm>
          <a:prstGeom prst="rect">
            <a:avLst/>
          </a:prstGeom>
          <a:solidFill>
            <a:srgbClr val="E2E8F0"/>
          </a:solidFill>
          <a:ln w="12700">
            <a:solidFill>
              <a:srgbClr val="E2E8F0"/>
            </a:solidFill>
            <a:prstDash val="solid"/>
          </a:ln>
        </p:spPr>
      </p:sp>
      <p:sp>
        <p:nvSpPr>
          <p:cNvPr id="34" name="Shape 32"/>
          <p:cNvSpPr/>
          <p:nvPr/>
        </p:nvSpPr>
        <p:spPr>
          <a:xfrm>
            <a:off x="2057400" y="3712464"/>
            <a:ext cx="4297680" cy="146304"/>
          </a:xfrm>
          <a:prstGeom prst="rect">
            <a:avLst/>
          </a:prstGeom>
          <a:solidFill>
            <a:srgbClr val="0891B2"/>
          </a:solidFill>
          <a:ln w="12700">
            <a:solidFill>
              <a:srgbClr val="0891B2"/>
            </a:solidFill>
            <a:prstDash val="solid"/>
          </a:ln>
        </p:spPr>
      </p:sp>
      <p:sp>
        <p:nvSpPr>
          <p:cNvPr id="35" name="Text 33"/>
          <p:cNvSpPr/>
          <p:nvPr/>
        </p:nvSpPr>
        <p:spPr>
          <a:xfrm>
            <a:off x="6492240" y="3685032"/>
            <a:ext cx="411480" cy="182880"/>
          </a:xfrm>
          <a:prstGeom prst="rect">
            <a:avLst/>
          </a:prstGeom>
          <a:noFill/>
          <a:ln/>
        </p:spPr>
        <p:txBody>
          <a:bodyPr wrap="square" lIns="0" tIns="0" rIns="0" bIns="0" rtlCol="0" anchor="ctr"/>
          <a:lstStyle/>
          <a:p>
            <a:pPr algn="r" indent="0" marL="0">
              <a:buNone/>
            </a:pPr>
            <a:r>
              <a:rPr lang="en-US" sz="950" b="1" dirty="0">
                <a:solidFill>
                  <a:srgbClr val="0F172A"/>
                </a:solidFill>
              </a:rPr>
              <a:t>90</a:t>
            </a:r>
            <a:endParaRPr lang="en-US" sz="950" dirty="0"/>
          </a:p>
        </p:txBody>
      </p:sp>
      <p:sp>
        <p:nvSpPr>
          <p:cNvPr id="36" name="Text 34"/>
          <p:cNvSpPr/>
          <p:nvPr/>
        </p:nvSpPr>
        <p:spPr>
          <a:xfrm>
            <a:off x="868680" y="4123944"/>
            <a:ext cx="1143000" cy="182880"/>
          </a:xfrm>
          <a:prstGeom prst="rect">
            <a:avLst/>
          </a:prstGeom>
          <a:noFill/>
          <a:ln/>
        </p:spPr>
        <p:txBody>
          <a:bodyPr wrap="square" lIns="0" tIns="0" rIns="0" bIns="0" rtlCol="0" anchor="ctr"/>
          <a:lstStyle/>
          <a:p>
            <a:pPr indent="0" marL="0">
              <a:buNone/>
            </a:pPr>
            <a:r>
              <a:rPr lang="en-US" sz="950" dirty="0">
                <a:solidFill>
                  <a:srgbClr val="475569"/>
                </a:solidFill>
              </a:rPr>
              <a:t>Judge</a:t>
            </a:r>
            <a:endParaRPr lang="en-US" sz="950" dirty="0"/>
          </a:p>
        </p:txBody>
      </p:sp>
      <p:sp>
        <p:nvSpPr>
          <p:cNvPr id="37" name="Shape 35"/>
          <p:cNvSpPr/>
          <p:nvPr/>
        </p:nvSpPr>
        <p:spPr>
          <a:xfrm>
            <a:off x="2057400" y="4151376"/>
            <a:ext cx="4297680" cy="146304"/>
          </a:xfrm>
          <a:prstGeom prst="rect">
            <a:avLst/>
          </a:prstGeom>
          <a:solidFill>
            <a:srgbClr val="E2E8F0"/>
          </a:solidFill>
          <a:ln w="12700">
            <a:solidFill>
              <a:srgbClr val="E2E8F0"/>
            </a:solidFill>
            <a:prstDash val="solid"/>
          </a:ln>
        </p:spPr>
      </p:sp>
      <p:sp>
        <p:nvSpPr>
          <p:cNvPr id="38" name="Shape 36"/>
          <p:cNvSpPr/>
          <p:nvPr/>
        </p:nvSpPr>
        <p:spPr>
          <a:xfrm>
            <a:off x="2057400" y="4151376"/>
            <a:ext cx="4297680" cy="146304"/>
          </a:xfrm>
          <a:prstGeom prst="rect">
            <a:avLst/>
          </a:prstGeom>
          <a:solidFill>
            <a:srgbClr val="0891B2"/>
          </a:solidFill>
          <a:ln w="12700">
            <a:solidFill>
              <a:srgbClr val="0891B2"/>
            </a:solidFill>
            <a:prstDash val="solid"/>
          </a:ln>
        </p:spPr>
      </p:sp>
      <p:sp>
        <p:nvSpPr>
          <p:cNvPr id="39" name="Text 37"/>
          <p:cNvSpPr/>
          <p:nvPr/>
        </p:nvSpPr>
        <p:spPr>
          <a:xfrm>
            <a:off x="6492240" y="4123944"/>
            <a:ext cx="411480" cy="182880"/>
          </a:xfrm>
          <a:prstGeom prst="rect">
            <a:avLst/>
          </a:prstGeom>
          <a:noFill/>
          <a:ln/>
        </p:spPr>
        <p:txBody>
          <a:bodyPr wrap="square" lIns="0" tIns="0" rIns="0" bIns="0" rtlCol="0" anchor="ctr"/>
          <a:lstStyle/>
          <a:p>
            <a:pPr algn="r" indent="0" marL="0">
              <a:buNone/>
            </a:pPr>
            <a:r>
              <a:rPr lang="en-US" sz="950" b="1" dirty="0">
                <a:solidFill>
                  <a:srgbClr val="0F172A"/>
                </a:solidFill>
              </a:rPr>
              <a:t>90</a:t>
            </a:r>
            <a:endParaRPr lang="en-US" sz="950" dirty="0"/>
          </a:p>
        </p:txBody>
      </p:sp>
      <p:sp>
        <p:nvSpPr>
          <p:cNvPr id="40" name="Text 38"/>
          <p:cNvSpPr/>
          <p:nvPr/>
        </p:nvSpPr>
        <p:spPr>
          <a:xfrm>
            <a:off x="868680" y="4562856"/>
            <a:ext cx="1143000" cy="182880"/>
          </a:xfrm>
          <a:prstGeom prst="rect">
            <a:avLst/>
          </a:prstGeom>
          <a:noFill/>
          <a:ln/>
        </p:spPr>
        <p:txBody>
          <a:bodyPr wrap="square" lIns="0" tIns="0" rIns="0" bIns="0" rtlCol="0" anchor="ctr"/>
          <a:lstStyle/>
          <a:p>
            <a:pPr indent="0" marL="0">
              <a:buNone/>
            </a:pPr>
            <a:r>
              <a:rPr lang="en-US" sz="950" dirty="0">
                <a:solidFill>
                  <a:srgbClr val="475569"/>
                </a:solidFill>
              </a:rPr>
              <a:t>Normalized</a:t>
            </a:r>
            <a:endParaRPr lang="en-US" sz="950" dirty="0"/>
          </a:p>
        </p:txBody>
      </p:sp>
      <p:sp>
        <p:nvSpPr>
          <p:cNvPr id="41" name="Shape 39"/>
          <p:cNvSpPr/>
          <p:nvPr/>
        </p:nvSpPr>
        <p:spPr>
          <a:xfrm>
            <a:off x="2057400" y="4590288"/>
            <a:ext cx="4297680" cy="146304"/>
          </a:xfrm>
          <a:prstGeom prst="rect">
            <a:avLst/>
          </a:prstGeom>
          <a:solidFill>
            <a:srgbClr val="E2E8F0"/>
          </a:solidFill>
          <a:ln w="12700">
            <a:solidFill>
              <a:srgbClr val="E2E8F0"/>
            </a:solidFill>
            <a:prstDash val="solid"/>
          </a:ln>
        </p:spPr>
      </p:sp>
      <p:sp>
        <p:nvSpPr>
          <p:cNvPr id="42" name="Shape 40"/>
          <p:cNvSpPr/>
          <p:nvPr/>
        </p:nvSpPr>
        <p:spPr>
          <a:xfrm>
            <a:off x="2057400" y="4590288"/>
            <a:ext cx="4297680" cy="146304"/>
          </a:xfrm>
          <a:prstGeom prst="rect">
            <a:avLst/>
          </a:prstGeom>
          <a:solidFill>
            <a:srgbClr val="D97706"/>
          </a:solidFill>
          <a:ln w="12700">
            <a:solidFill>
              <a:srgbClr val="D97706"/>
            </a:solidFill>
            <a:prstDash val="solid"/>
          </a:ln>
        </p:spPr>
      </p:sp>
      <p:sp>
        <p:nvSpPr>
          <p:cNvPr id="43" name="Text 41"/>
          <p:cNvSpPr/>
          <p:nvPr/>
        </p:nvSpPr>
        <p:spPr>
          <a:xfrm>
            <a:off x="6492240" y="4562856"/>
            <a:ext cx="411480" cy="182880"/>
          </a:xfrm>
          <a:prstGeom prst="rect">
            <a:avLst/>
          </a:prstGeom>
          <a:noFill/>
          <a:ln/>
        </p:spPr>
        <p:txBody>
          <a:bodyPr wrap="square" lIns="0" tIns="0" rIns="0" bIns="0" rtlCol="0" anchor="ctr"/>
          <a:lstStyle/>
          <a:p>
            <a:pPr algn="r" indent="0" marL="0">
              <a:buNone/>
            </a:pPr>
            <a:r>
              <a:rPr lang="en-US" sz="950" b="1" dirty="0">
                <a:solidFill>
                  <a:srgbClr val="0F172A"/>
                </a:solidFill>
              </a:rPr>
              <a:t>90</a:t>
            </a:r>
            <a:endParaRPr lang="en-US" sz="950" dirty="0"/>
          </a:p>
        </p:txBody>
      </p:sp>
      <p:sp>
        <p:nvSpPr>
          <p:cNvPr id="44" name="Text 42"/>
          <p:cNvSpPr/>
          <p:nvPr/>
        </p:nvSpPr>
        <p:spPr>
          <a:xfrm>
            <a:off x="868680" y="5001768"/>
            <a:ext cx="1143000" cy="182880"/>
          </a:xfrm>
          <a:prstGeom prst="rect">
            <a:avLst/>
          </a:prstGeom>
          <a:noFill/>
          <a:ln/>
        </p:spPr>
        <p:txBody>
          <a:bodyPr wrap="square" lIns="0" tIns="0" rIns="0" bIns="0" rtlCol="0" anchor="ctr"/>
          <a:lstStyle/>
          <a:p>
            <a:pPr indent="0" marL="0">
              <a:buNone/>
            </a:pPr>
            <a:r>
              <a:rPr lang="en-US" sz="950" dirty="0">
                <a:solidFill>
                  <a:srgbClr val="475569"/>
                </a:solidFill>
              </a:rPr>
              <a:t>Persisted</a:t>
            </a:r>
            <a:endParaRPr lang="en-US" sz="950" dirty="0"/>
          </a:p>
        </p:txBody>
      </p:sp>
      <p:sp>
        <p:nvSpPr>
          <p:cNvPr id="45" name="Shape 43"/>
          <p:cNvSpPr/>
          <p:nvPr/>
        </p:nvSpPr>
        <p:spPr>
          <a:xfrm>
            <a:off x="2057400" y="5029200"/>
            <a:ext cx="4297680" cy="146304"/>
          </a:xfrm>
          <a:prstGeom prst="rect">
            <a:avLst/>
          </a:prstGeom>
          <a:solidFill>
            <a:srgbClr val="E2E8F0"/>
          </a:solidFill>
          <a:ln w="12700">
            <a:solidFill>
              <a:srgbClr val="E2E8F0"/>
            </a:solidFill>
            <a:prstDash val="solid"/>
          </a:ln>
        </p:spPr>
      </p:sp>
      <p:sp>
        <p:nvSpPr>
          <p:cNvPr id="46" name="Shape 44"/>
          <p:cNvSpPr/>
          <p:nvPr/>
        </p:nvSpPr>
        <p:spPr>
          <a:xfrm>
            <a:off x="2057400" y="5029200"/>
            <a:ext cx="4297680" cy="146304"/>
          </a:xfrm>
          <a:prstGeom prst="rect">
            <a:avLst/>
          </a:prstGeom>
          <a:solidFill>
            <a:srgbClr val="059669"/>
          </a:solidFill>
          <a:ln w="12700">
            <a:solidFill>
              <a:srgbClr val="059669"/>
            </a:solidFill>
            <a:prstDash val="solid"/>
          </a:ln>
        </p:spPr>
      </p:sp>
      <p:sp>
        <p:nvSpPr>
          <p:cNvPr id="47" name="Text 45"/>
          <p:cNvSpPr/>
          <p:nvPr/>
        </p:nvSpPr>
        <p:spPr>
          <a:xfrm>
            <a:off x="6492240" y="5001768"/>
            <a:ext cx="411480" cy="182880"/>
          </a:xfrm>
          <a:prstGeom prst="rect">
            <a:avLst/>
          </a:prstGeom>
          <a:noFill/>
          <a:ln/>
        </p:spPr>
        <p:txBody>
          <a:bodyPr wrap="square" lIns="0" tIns="0" rIns="0" bIns="0" rtlCol="0" anchor="ctr"/>
          <a:lstStyle/>
          <a:p>
            <a:pPr algn="r" indent="0" marL="0">
              <a:buNone/>
            </a:pPr>
            <a:r>
              <a:rPr lang="en-US" sz="950" b="1" dirty="0">
                <a:solidFill>
                  <a:srgbClr val="0F172A"/>
                </a:solidFill>
              </a:rPr>
              <a:t>90</a:t>
            </a:r>
            <a:endParaRPr lang="en-US" sz="950" dirty="0"/>
          </a:p>
        </p:txBody>
      </p:sp>
      <p:sp>
        <p:nvSpPr>
          <p:cNvPr id="48" name="Shape 46"/>
          <p:cNvSpPr/>
          <p:nvPr/>
        </p:nvSpPr>
        <p:spPr>
          <a:xfrm>
            <a:off x="7818120" y="2560320"/>
            <a:ext cx="3703320" cy="3063240"/>
          </a:xfrm>
          <a:prstGeom prst="roundRect">
            <a:avLst>
              <a:gd name="adj" fmla="val 2388"/>
            </a:avLst>
          </a:prstGeom>
          <a:solidFill>
            <a:srgbClr val="FFFFFF"/>
          </a:solidFill>
          <a:ln w="10160">
            <a:solidFill>
              <a:srgbClr val="D8DEE8"/>
            </a:solidFill>
            <a:prstDash val="solid"/>
          </a:ln>
        </p:spPr>
      </p:sp>
      <p:sp>
        <p:nvSpPr>
          <p:cNvPr id="49" name="Text 47"/>
          <p:cNvSpPr/>
          <p:nvPr/>
        </p:nvSpPr>
        <p:spPr>
          <a:xfrm>
            <a:off x="8092440" y="2816352"/>
            <a:ext cx="1645920" cy="228600"/>
          </a:xfrm>
          <a:prstGeom prst="rect">
            <a:avLst/>
          </a:prstGeom>
          <a:noFill/>
          <a:ln/>
        </p:spPr>
        <p:txBody>
          <a:bodyPr wrap="square" lIns="0" tIns="0" rIns="0" bIns="0" rtlCol="0" anchor="ctr"/>
          <a:lstStyle/>
          <a:p>
            <a:pPr indent="0" marL="0">
              <a:buNone/>
            </a:pPr>
            <a:r>
              <a:rPr lang="en-US" sz="1000" b="1" dirty="0">
                <a:solidFill>
                  <a:srgbClr val="2563EB"/>
                </a:solidFill>
              </a:rPr>
              <a:t>ERROR BUDGET</a:t>
            </a:r>
            <a:endParaRPr lang="en-US" sz="1000" dirty="0"/>
          </a:p>
        </p:txBody>
      </p:sp>
      <p:sp>
        <p:nvSpPr>
          <p:cNvPr id="50" name="Text 48"/>
          <p:cNvSpPr/>
          <p:nvPr/>
        </p:nvSpPr>
        <p:spPr>
          <a:xfrm>
            <a:off x="8092440" y="3246120"/>
            <a:ext cx="914400" cy="502920"/>
          </a:xfrm>
          <a:prstGeom prst="rect">
            <a:avLst/>
          </a:prstGeom>
          <a:noFill/>
          <a:ln/>
        </p:spPr>
        <p:txBody>
          <a:bodyPr wrap="square" lIns="0" tIns="0" rIns="0" bIns="0" rtlCol="0" anchor="ctr"/>
          <a:lstStyle/>
          <a:p>
            <a:pPr indent="0" marL="0">
              <a:buNone/>
            </a:pPr>
            <a:r>
              <a:rPr lang="en-US" sz="3400" b="1" dirty="0">
                <a:solidFill>
                  <a:srgbClr val="059669"/>
                </a:solidFill>
              </a:rPr>
              <a:t>0</a:t>
            </a:r>
            <a:endParaRPr lang="en-US" sz="3400" dirty="0"/>
          </a:p>
        </p:txBody>
      </p:sp>
      <p:sp>
        <p:nvSpPr>
          <p:cNvPr id="51" name="Text 49"/>
          <p:cNvSpPr/>
          <p:nvPr/>
        </p:nvSpPr>
        <p:spPr>
          <a:xfrm>
            <a:off x="9052560" y="3364992"/>
            <a:ext cx="1920240" cy="320040"/>
          </a:xfrm>
          <a:prstGeom prst="rect">
            <a:avLst/>
          </a:prstGeom>
          <a:noFill/>
          <a:ln/>
        </p:spPr>
        <p:txBody>
          <a:bodyPr wrap="square" lIns="0" tIns="0" rIns="0" bIns="0" rtlCol="0" anchor="ctr">
            <a:normAutofit/>
          </a:bodyPr>
          <a:lstStyle/>
          <a:p>
            <a:pPr indent="0" marL="0">
              <a:buNone/>
            </a:pPr>
            <a:r>
              <a:rPr lang="en-US" sz="1000" dirty="0">
                <a:solidFill>
                  <a:srgbClr val="475569"/>
                </a:solidFill>
              </a:rPr>
              <a:t>silent result-loss events allowed</a:t>
            </a:r>
            <a:endParaRPr lang="en-US" sz="1000" dirty="0"/>
          </a:p>
        </p:txBody>
      </p:sp>
      <p:sp>
        <p:nvSpPr>
          <p:cNvPr id="52" name="Text 50"/>
          <p:cNvSpPr/>
          <p:nvPr/>
        </p:nvSpPr>
        <p:spPr>
          <a:xfrm>
            <a:off x="8092440" y="4069080"/>
            <a:ext cx="1463040" cy="201168"/>
          </a:xfrm>
          <a:prstGeom prst="rect">
            <a:avLst/>
          </a:prstGeom>
          <a:noFill/>
          <a:ln/>
        </p:spPr>
        <p:txBody>
          <a:bodyPr wrap="square" lIns="0" tIns="0" rIns="0" bIns="0" rtlCol="0" anchor="ctr"/>
          <a:lstStyle/>
          <a:p>
            <a:pPr indent="0" marL="0">
              <a:buNone/>
            </a:pPr>
            <a:r>
              <a:rPr lang="en-US" sz="1000" b="1" dirty="0">
                <a:solidFill>
                  <a:srgbClr val="0F172A"/>
                </a:solidFill>
              </a:rPr>
              <a:t>Required alerts</a:t>
            </a:r>
            <a:endParaRPr lang="en-US" sz="1000" dirty="0"/>
          </a:p>
        </p:txBody>
      </p:sp>
      <p:sp>
        <p:nvSpPr>
          <p:cNvPr id="53" name="Text 51"/>
          <p:cNvSpPr/>
          <p:nvPr/>
        </p:nvSpPr>
        <p:spPr>
          <a:xfrm>
            <a:off x="8092440" y="4398264"/>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54" name="Text 52"/>
          <p:cNvSpPr/>
          <p:nvPr/>
        </p:nvSpPr>
        <p:spPr>
          <a:xfrm>
            <a:off x="8293608" y="4407408"/>
            <a:ext cx="2724912" cy="347472"/>
          </a:xfrm>
          <a:prstGeom prst="rect">
            <a:avLst/>
          </a:prstGeom>
          <a:noFill/>
          <a:ln/>
        </p:spPr>
        <p:txBody>
          <a:bodyPr wrap="square" lIns="0" tIns="0" rIns="0" bIns="0" rtlCol="0" anchor="ctr">
            <a:normAutofit/>
          </a:bodyPr>
          <a:lstStyle/>
          <a:p>
            <a:pPr indent="0" marL="0">
              <a:buNone/>
            </a:pPr>
            <a:r>
              <a:rPr lang="en-US" sz="880" dirty="0">
                <a:solidFill>
                  <a:srgbClr val="475569"/>
                </a:solidFill>
              </a:rPr>
              <a:t>batch complete + missing results</a:t>
            </a:r>
            <a:endParaRPr lang="en-US" sz="880" dirty="0"/>
          </a:p>
        </p:txBody>
      </p:sp>
      <p:sp>
        <p:nvSpPr>
          <p:cNvPr id="55" name="Text 53"/>
          <p:cNvSpPr/>
          <p:nvPr/>
        </p:nvSpPr>
        <p:spPr>
          <a:xfrm>
            <a:off x="8092440" y="470001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56" name="Text 54"/>
          <p:cNvSpPr/>
          <p:nvPr/>
        </p:nvSpPr>
        <p:spPr>
          <a:xfrm>
            <a:off x="8293608" y="4709160"/>
            <a:ext cx="2724912" cy="347472"/>
          </a:xfrm>
          <a:prstGeom prst="rect">
            <a:avLst/>
          </a:prstGeom>
          <a:noFill/>
          <a:ln/>
        </p:spPr>
        <p:txBody>
          <a:bodyPr wrap="square" lIns="0" tIns="0" rIns="0" bIns="0" rtlCol="0" anchor="ctr">
            <a:normAutofit/>
          </a:bodyPr>
          <a:lstStyle/>
          <a:p>
            <a:pPr indent="0" marL="0">
              <a:buNone/>
            </a:pPr>
            <a:r>
              <a:rPr lang="en-US" sz="880" dirty="0">
                <a:solidFill>
                  <a:srgbClr val="475569"/>
                </a:solidFill>
              </a:rPr>
              <a:t>judge response without normalized result</a:t>
            </a:r>
            <a:endParaRPr lang="en-US" sz="880" dirty="0"/>
          </a:p>
        </p:txBody>
      </p:sp>
      <p:sp>
        <p:nvSpPr>
          <p:cNvPr id="57" name="Text 55"/>
          <p:cNvSpPr/>
          <p:nvPr/>
        </p:nvSpPr>
        <p:spPr>
          <a:xfrm>
            <a:off x="8092440" y="5001768"/>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58" name="Text 56"/>
          <p:cNvSpPr/>
          <p:nvPr/>
        </p:nvSpPr>
        <p:spPr>
          <a:xfrm>
            <a:off x="8293608" y="5010912"/>
            <a:ext cx="2724912" cy="347472"/>
          </a:xfrm>
          <a:prstGeom prst="rect">
            <a:avLst/>
          </a:prstGeom>
          <a:noFill/>
          <a:ln/>
        </p:spPr>
        <p:txBody>
          <a:bodyPr wrap="square" lIns="0" tIns="0" rIns="0" bIns="0" rtlCol="0" anchor="ctr">
            <a:normAutofit/>
          </a:bodyPr>
          <a:lstStyle/>
          <a:p>
            <a:pPr indent="0" marL="0">
              <a:buNone/>
            </a:pPr>
            <a:r>
              <a:rPr lang="en-US" sz="880" dirty="0">
                <a:solidFill>
                  <a:srgbClr val="475569"/>
                </a:solidFill>
              </a:rPr>
              <a:t>case terminal with blank score</a:t>
            </a:r>
            <a:endParaRPr lang="en-US" sz="880" dirty="0"/>
          </a:p>
        </p:txBody>
      </p:sp>
      <p:sp>
        <p:nvSpPr>
          <p:cNvPr id="59" name="Text 57"/>
          <p:cNvSpPr/>
          <p:nvPr/>
        </p:nvSpPr>
        <p:spPr>
          <a:xfrm>
            <a:off x="8092440" y="5303520"/>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60" name="Text 58"/>
          <p:cNvSpPr/>
          <p:nvPr/>
        </p:nvSpPr>
        <p:spPr>
          <a:xfrm>
            <a:off x="8293608" y="5312664"/>
            <a:ext cx="2724912" cy="347472"/>
          </a:xfrm>
          <a:prstGeom prst="rect">
            <a:avLst/>
          </a:prstGeom>
          <a:noFill/>
          <a:ln/>
        </p:spPr>
        <p:txBody>
          <a:bodyPr wrap="square" lIns="0" tIns="0" rIns="0" bIns="0" rtlCol="0" anchor="ctr">
            <a:normAutofit/>
          </a:bodyPr>
          <a:lstStyle/>
          <a:p>
            <a:pPr indent="0" marL="0">
              <a:buNone/>
            </a:pPr>
            <a:r>
              <a:rPr lang="en-US" sz="880" dirty="0">
                <a:solidFill>
                  <a:srgbClr val="475569"/>
                </a:solidFill>
              </a:rPr>
              <a:t>checkpoint/report count mismatch</a:t>
            </a:r>
            <a:endParaRPr lang="en-US" sz="88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502920"/>
            <a:ext cx="11064240" cy="438912"/>
          </a:xfrm>
          <a:prstGeom prst="rect">
            <a:avLst/>
          </a:prstGeom>
          <a:noFill/>
          <a:ln/>
        </p:spPr>
        <p:txBody>
          <a:bodyPr wrap="square" lIns="0" tIns="0" rIns="0" bIns="0" rtlCol="0" anchor="ctr"/>
          <a:lstStyle/>
          <a:p>
            <a:pPr indent="0" marL="0">
              <a:buNone/>
            </a:pPr>
            <a:r>
              <a:rPr lang="en-US" sz="2500" b="1" dirty="0">
                <a:solidFill>
                  <a:srgbClr val="0F172A"/>
                </a:solidFill>
              </a:rPr>
              <a:t>Decision framework: what this run proves—and what it does not</a:t>
            </a:r>
            <a:endParaRPr lang="en-US" sz="2500" dirty="0"/>
          </a:p>
        </p:txBody>
      </p:sp>
      <p:sp>
        <p:nvSpPr>
          <p:cNvPr id="3" name="Text 1"/>
          <p:cNvSpPr/>
          <p:nvPr/>
        </p:nvSpPr>
        <p:spPr>
          <a:xfrm>
            <a:off x="530352" y="960120"/>
            <a:ext cx="10972800" cy="310896"/>
          </a:xfrm>
          <a:prstGeom prst="rect">
            <a:avLst/>
          </a:prstGeom>
          <a:noFill/>
          <a:ln/>
        </p:spPr>
        <p:txBody>
          <a:bodyPr wrap="square" lIns="0" tIns="0" rIns="0" bIns="0" rtlCol="0" anchor="ctr"/>
          <a:lstStyle/>
          <a:p>
            <a:pPr indent="0" marL="0">
              <a:buNone/>
            </a:pPr>
            <a:r>
              <a:rPr lang="en-US" sz="1150" dirty="0">
                <a:solidFill>
                  <a:srgbClr val="64748B"/>
                </a:solidFill>
              </a:rPr>
              <a:t>Use the benchmark as an engineering artifact now; promote it to external evidence only after result integrity is fixed.</a:t>
            </a:r>
            <a:endParaRPr lang="en-US" sz="1150" dirty="0"/>
          </a:p>
        </p:txBody>
      </p:sp>
      <p:sp>
        <p:nvSpPr>
          <p:cNvPr id="4" name="Shape 2"/>
          <p:cNvSpPr/>
          <p:nvPr/>
        </p:nvSpPr>
        <p:spPr>
          <a:xfrm>
            <a:off x="640080" y="1417320"/>
            <a:ext cx="5257800" cy="4434840"/>
          </a:xfrm>
          <a:prstGeom prst="roundRect">
            <a:avLst>
              <a:gd name="adj" fmla="val 1649"/>
            </a:avLst>
          </a:prstGeom>
          <a:solidFill>
            <a:srgbClr val="ECFDF5"/>
          </a:solidFill>
          <a:ln w="10160">
            <a:solidFill>
              <a:srgbClr val="A7F3D0"/>
            </a:solidFill>
            <a:prstDash val="solid"/>
          </a:ln>
        </p:spPr>
      </p:sp>
      <p:sp>
        <p:nvSpPr>
          <p:cNvPr id="5" name="Text 3"/>
          <p:cNvSpPr/>
          <p:nvPr/>
        </p:nvSpPr>
        <p:spPr>
          <a:xfrm>
            <a:off x="914400" y="1737360"/>
            <a:ext cx="2286000" cy="228600"/>
          </a:xfrm>
          <a:prstGeom prst="rect">
            <a:avLst/>
          </a:prstGeom>
          <a:noFill/>
          <a:ln/>
        </p:spPr>
        <p:txBody>
          <a:bodyPr wrap="square" lIns="0" tIns="0" rIns="0" bIns="0" rtlCol="0" anchor="ctr"/>
          <a:lstStyle/>
          <a:p>
            <a:pPr indent="0" marL="0">
              <a:buNone/>
            </a:pPr>
            <a:r>
              <a:rPr lang="en-US" sz="1200" b="1" dirty="0">
                <a:solidFill>
                  <a:srgbClr val="047857"/>
                </a:solidFill>
              </a:rPr>
              <a:t>PROVEN BY THIS RUN</a:t>
            </a:r>
            <a:endParaRPr lang="en-US" sz="1200" dirty="0"/>
          </a:p>
        </p:txBody>
      </p:sp>
      <p:sp>
        <p:nvSpPr>
          <p:cNvPr id="6" name="Text 4"/>
          <p:cNvSpPr/>
          <p:nvPr/>
        </p:nvSpPr>
        <p:spPr>
          <a:xfrm>
            <a:off x="914400" y="223113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7" name="Text 5"/>
          <p:cNvSpPr/>
          <p:nvPr/>
        </p:nvSpPr>
        <p:spPr>
          <a:xfrm>
            <a:off x="1115568" y="2240280"/>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90-case suite can be segmented into 18 batches</a:t>
            </a:r>
            <a:endParaRPr lang="en-US" sz="1100" dirty="0"/>
          </a:p>
        </p:txBody>
      </p:sp>
      <p:sp>
        <p:nvSpPr>
          <p:cNvPr id="8" name="Text 6"/>
          <p:cNvSpPr/>
          <p:nvPr/>
        </p:nvSpPr>
        <p:spPr>
          <a:xfrm>
            <a:off x="914400" y="287121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9" name="Text 7"/>
          <p:cNvSpPr/>
          <p:nvPr/>
        </p:nvSpPr>
        <p:spPr>
          <a:xfrm>
            <a:off x="1115568" y="2880360"/>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API accepted and completed all 18 batches</a:t>
            </a:r>
            <a:endParaRPr lang="en-US" sz="1100" dirty="0"/>
          </a:p>
        </p:txBody>
      </p:sp>
      <p:sp>
        <p:nvSpPr>
          <p:cNvPr id="10" name="Text 8"/>
          <p:cNvSpPr/>
          <p:nvPr/>
        </p:nvSpPr>
        <p:spPr>
          <a:xfrm>
            <a:off x="914400" y="351129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11" name="Text 9"/>
          <p:cNvSpPr/>
          <p:nvPr/>
        </p:nvSpPr>
        <p:spPr>
          <a:xfrm>
            <a:off x="1115568" y="3520440"/>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5-case batching avoids the prior 25-case request ceiling</a:t>
            </a:r>
            <a:endParaRPr lang="en-US" sz="1100" dirty="0"/>
          </a:p>
        </p:txBody>
      </p:sp>
      <p:sp>
        <p:nvSpPr>
          <p:cNvPr id="12" name="Text 10"/>
          <p:cNvSpPr/>
          <p:nvPr/>
        </p:nvSpPr>
        <p:spPr>
          <a:xfrm>
            <a:off x="914400" y="415137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13" name="Text 11"/>
          <p:cNvSpPr/>
          <p:nvPr/>
        </p:nvSpPr>
        <p:spPr>
          <a:xfrm>
            <a:off x="1115568" y="4160520"/>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checkpointed sequential orchestration reaches terminal batch states</a:t>
            </a:r>
            <a:endParaRPr lang="en-US" sz="1100" dirty="0"/>
          </a:p>
        </p:txBody>
      </p:sp>
      <p:sp>
        <p:nvSpPr>
          <p:cNvPr id="14" name="Shape 12"/>
          <p:cNvSpPr/>
          <p:nvPr/>
        </p:nvSpPr>
        <p:spPr>
          <a:xfrm>
            <a:off x="6263640" y="1417320"/>
            <a:ext cx="5257800" cy="4434840"/>
          </a:xfrm>
          <a:prstGeom prst="roundRect">
            <a:avLst>
              <a:gd name="adj" fmla="val 1649"/>
            </a:avLst>
          </a:prstGeom>
          <a:solidFill>
            <a:srgbClr val="FEF2F2"/>
          </a:solidFill>
          <a:ln w="10160">
            <a:solidFill>
              <a:srgbClr val="FECACA"/>
            </a:solidFill>
            <a:prstDash val="solid"/>
          </a:ln>
        </p:spPr>
      </p:sp>
      <p:sp>
        <p:nvSpPr>
          <p:cNvPr id="15" name="Text 13"/>
          <p:cNvSpPr/>
          <p:nvPr/>
        </p:nvSpPr>
        <p:spPr>
          <a:xfrm>
            <a:off x="6537960" y="1737360"/>
            <a:ext cx="2286000" cy="228600"/>
          </a:xfrm>
          <a:prstGeom prst="rect">
            <a:avLst/>
          </a:prstGeom>
          <a:noFill/>
          <a:ln/>
        </p:spPr>
        <p:txBody>
          <a:bodyPr wrap="square" lIns="0" tIns="0" rIns="0" bIns="0" rtlCol="0" anchor="ctr"/>
          <a:lstStyle/>
          <a:p>
            <a:pPr indent="0" marL="0">
              <a:buNone/>
            </a:pPr>
            <a:r>
              <a:rPr lang="en-US" sz="1200" b="1" dirty="0">
                <a:solidFill>
                  <a:srgbClr val="B91C1C"/>
                </a:solidFill>
              </a:rPr>
              <a:t>NOT YET PROVEN</a:t>
            </a:r>
            <a:endParaRPr lang="en-US" sz="1200" dirty="0"/>
          </a:p>
        </p:txBody>
      </p:sp>
      <p:sp>
        <p:nvSpPr>
          <p:cNvPr id="16" name="Text 14"/>
          <p:cNvSpPr/>
          <p:nvPr/>
        </p:nvSpPr>
        <p:spPr>
          <a:xfrm>
            <a:off x="6537960" y="2231136"/>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17" name="Text 15"/>
          <p:cNvSpPr/>
          <p:nvPr/>
        </p:nvSpPr>
        <p:spPr>
          <a:xfrm>
            <a:off x="6739128" y="2240280"/>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Prompt quality scoring accuracy</a:t>
            </a:r>
            <a:endParaRPr lang="en-US" sz="1100" dirty="0"/>
          </a:p>
        </p:txBody>
      </p:sp>
      <p:sp>
        <p:nvSpPr>
          <p:cNvPr id="18" name="Text 16"/>
          <p:cNvSpPr/>
          <p:nvPr/>
        </p:nvSpPr>
        <p:spPr>
          <a:xfrm>
            <a:off x="6537960" y="2761488"/>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19" name="Text 17"/>
          <p:cNvSpPr/>
          <p:nvPr/>
        </p:nvSpPr>
        <p:spPr>
          <a:xfrm>
            <a:off x="6739128" y="2770632"/>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Hallucination-risk classification accuracy</a:t>
            </a:r>
            <a:endParaRPr lang="en-US" sz="1100" dirty="0"/>
          </a:p>
        </p:txBody>
      </p:sp>
      <p:sp>
        <p:nvSpPr>
          <p:cNvPr id="20" name="Text 18"/>
          <p:cNvSpPr/>
          <p:nvPr/>
        </p:nvSpPr>
        <p:spPr>
          <a:xfrm>
            <a:off x="6537960" y="3291840"/>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21" name="Text 19"/>
          <p:cNvSpPr/>
          <p:nvPr/>
        </p:nvSpPr>
        <p:spPr>
          <a:xfrm>
            <a:off x="6739128" y="3300984"/>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Expectation pass/fail behavior</a:t>
            </a:r>
            <a:endParaRPr lang="en-US" sz="1100" dirty="0"/>
          </a:p>
        </p:txBody>
      </p:sp>
      <p:sp>
        <p:nvSpPr>
          <p:cNvPr id="22" name="Text 20"/>
          <p:cNvSpPr/>
          <p:nvPr/>
        </p:nvSpPr>
        <p:spPr>
          <a:xfrm>
            <a:off x="6537960" y="3822192"/>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23" name="Text 21"/>
          <p:cNvSpPr/>
          <p:nvPr/>
        </p:nvSpPr>
        <p:spPr>
          <a:xfrm>
            <a:off x="6739128" y="3831336"/>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Weak-vs-strong prompt discrimination</a:t>
            </a:r>
            <a:endParaRPr lang="en-US" sz="1100" dirty="0"/>
          </a:p>
        </p:txBody>
      </p:sp>
      <p:sp>
        <p:nvSpPr>
          <p:cNvPr id="24" name="Text 22"/>
          <p:cNvSpPr/>
          <p:nvPr/>
        </p:nvSpPr>
        <p:spPr>
          <a:xfrm>
            <a:off x="6537960" y="4352544"/>
            <a:ext cx="164592" cy="228600"/>
          </a:xfrm>
          <a:prstGeom prst="rect">
            <a:avLst/>
          </a:prstGeom>
          <a:noFill/>
          <a:ln/>
        </p:spPr>
        <p:txBody>
          <a:bodyPr wrap="square" lIns="0" tIns="0" rIns="0" bIns="0" rtlCol="0" anchor="ctr"/>
          <a:lstStyle/>
          <a:p>
            <a:pPr indent="0" marL="0">
              <a:buNone/>
            </a:pPr>
            <a:r>
              <a:rPr lang="en-US" sz="1500" dirty="0">
                <a:solidFill>
                  <a:srgbClr val="2563EB"/>
                </a:solidFill>
              </a:rPr>
              <a:t>•</a:t>
            </a:r>
            <a:endParaRPr lang="en-US" sz="1500" dirty="0"/>
          </a:p>
        </p:txBody>
      </p:sp>
      <p:sp>
        <p:nvSpPr>
          <p:cNvPr id="25" name="Text 23"/>
          <p:cNvSpPr/>
          <p:nvPr/>
        </p:nvSpPr>
        <p:spPr>
          <a:xfrm>
            <a:off x="6739128" y="4361688"/>
            <a:ext cx="4279392" cy="347472"/>
          </a:xfrm>
          <a:prstGeom prst="rect">
            <a:avLst/>
          </a:prstGeom>
          <a:noFill/>
          <a:ln/>
        </p:spPr>
        <p:txBody>
          <a:bodyPr wrap="square" lIns="0" tIns="0" rIns="0" bIns="0" rtlCol="0" anchor="ctr">
            <a:normAutofit/>
          </a:bodyPr>
          <a:lstStyle/>
          <a:p>
            <a:pPr indent="0" marL="0">
              <a:buNone/>
            </a:pPr>
            <a:r>
              <a:rPr lang="en-US" sz="1100" dirty="0">
                <a:solidFill>
                  <a:srgbClr val="0F172A"/>
                </a:solidFill>
              </a:rPr>
              <a:t>Reproducibility or judge variance</a:t>
            </a:r>
            <a:endParaRPr lang="en-US" sz="1100" dirty="0"/>
          </a:p>
        </p:txBody>
      </p:sp>
      <p:sp>
        <p:nvSpPr>
          <p:cNvPr id="26" name="Shape 24"/>
          <p:cNvSpPr/>
          <p:nvPr/>
        </p:nvSpPr>
        <p:spPr>
          <a:xfrm>
            <a:off x="4206240" y="5989320"/>
            <a:ext cx="3749040" cy="274320"/>
          </a:xfrm>
          <a:prstGeom prst="roundRect">
            <a:avLst/>
          </a:prstGeom>
          <a:solidFill>
            <a:srgbClr val="2563EB"/>
          </a:solidFill>
          <a:ln w="12700">
            <a:solidFill>
              <a:srgbClr val="2563EB"/>
            </a:solidFill>
            <a:prstDash val="solid"/>
          </a:ln>
        </p:spPr>
      </p:sp>
      <p:sp>
        <p:nvSpPr>
          <p:cNvPr id="27" name="Text 25"/>
          <p:cNvSpPr/>
          <p:nvPr/>
        </p:nvSpPr>
        <p:spPr>
          <a:xfrm>
            <a:off x="4251960" y="6039612"/>
            <a:ext cx="3657600" cy="137160"/>
          </a:xfrm>
          <a:prstGeom prst="rect">
            <a:avLst/>
          </a:prstGeom>
          <a:noFill/>
          <a:ln/>
        </p:spPr>
        <p:txBody>
          <a:bodyPr wrap="square" lIns="0" tIns="0" rIns="0" bIns="0" rtlCol="0" anchor="ctr"/>
          <a:lstStyle/>
          <a:p>
            <a:pPr algn="ctr" indent="0" marL="0">
              <a:buNone/>
            </a:pPr>
            <a:r>
              <a:rPr lang="en-US" sz="800" b="1" dirty="0">
                <a:solidFill>
                  <a:srgbClr val="FFFFFF"/>
                </a:solidFill>
              </a:rPr>
              <a:t>NEXT MILESTONE: 90/90 VALID CASE RESULTS</a:t>
            </a:r>
            <a:endParaRPr lang="en-US" sz="800" dirty="0"/>
          </a:p>
        </p:txBody>
      </p:sp>
      <p:sp>
        <p:nvSpPr>
          <p:cNvPr id="25" name="Slide Number Placeholder 0"/>
          <p:cNvSpPr>
            <a:spLocks noGrp="1"/>
          </p:cNvSpPr>
          <p:nvPr>
            <p:ph type="sldNum" sz="quarter" idx="4294967295"/>
          </p:nvPr>
        </p:nvSpPr>
        <p:spPr>
          <a:xfrm>
            <a:off x="11292840" y="6565392"/>
            <a:ext cx="36576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94A3B8"/>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PQA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PQA Benchmark v1 — Advanced Technical Analysis</dc:title>
  <dc:subject>Prompt Quality Analyzer Benchmark Technical Analysis</dc:subject>
  <dc:creator>OpenAI</dc:creator>
  <cp:lastModifiedBy>OpenAI</cp:lastModifiedBy>
  <cp:revision>1</cp:revision>
  <dcterms:created xsi:type="dcterms:W3CDTF">2026-08-26T22:37:08Z</dcterms:created>
  <dcterms:modified xsi:type="dcterms:W3CDTF">2026-08-26T22:37:08Z</dcterms:modified>
</cp:coreProperties>
</file>